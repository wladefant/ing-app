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Inter Bold" charset="1" panose="02000503000000020004"/>
      <p:regular r:id="rId32"/>
    </p:embeddedFont>
    <p:embeddedFont>
      <p:font typeface="Inter" charset="1" panose="02000503000000020004"/>
      <p:regular r:id="rId33"/>
    </p:embeddedFont>
    <p:embeddedFont>
      <p:font typeface="Clear Sans" charset="1" panose="020B0503030202020304"/>
      <p:regular r:id="rId34"/>
    </p:embeddedFont>
    <p:embeddedFont>
      <p:font typeface="Aptos Bold" charset="1" panose="020B0004020202020204"/>
      <p:regular r:id="rId39"/>
    </p:embeddedFont>
    <p:embeddedFont>
      <p:font typeface="Barlow SemiCondensed" charset="1" panose="00000506000000000000"/>
      <p:regular r:id="rId44"/>
    </p:embeddedFont>
    <p:embeddedFont>
      <p:font typeface="Inter Light" charset="1" panose="02000503000000020004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font" Target="fonts/font32.fntdata"/><Relationship Id="rId33" Type="http://schemas.openxmlformats.org/officeDocument/2006/relationships/font" Target="fonts/font33.fntdata"/><Relationship Id="rId34" Type="http://schemas.openxmlformats.org/officeDocument/2006/relationships/font" Target="fonts/font34.fntdata"/><Relationship Id="rId35" Type="http://schemas.openxmlformats.org/officeDocument/2006/relationships/notesMaster" Target="notesMasters/notesMaster1.xml"/><Relationship Id="rId36" Type="http://schemas.openxmlformats.org/officeDocument/2006/relationships/theme" Target="theme/theme2.xml"/><Relationship Id="rId37" Type="http://schemas.openxmlformats.org/officeDocument/2006/relationships/notesSlide" Target="notesSlides/notesSlide1.xml"/><Relationship Id="rId38" Type="http://schemas.openxmlformats.org/officeDocument/2006/relationships/notesSlide" Target="notesSlides/notesSlide2.xml"/><Relationship Id="rId39" Type="http://schemas.openxmlformats.org/officeDocument/2006/relationships/font" Target="fonts/font39.fntdata"/><Relationship Id="rId40" Type="http://schemas.openxmlformats.org/officeDocument/2006/relationships/notesSlide" Target="notesSlides/notesSlide3.xml"/><Relationship Id="rId41" Type="http://schemas.openxmlformats.org/officeDocument/2006/relationships/notesSlide" Target="notesSlides/notesSlide4.xml"/><Relationship Id="rId42" Type="http://schemas.openxmlformats.org/officeDocument/2006/relationships/notesSlide" Target="notesSlides/notesSlide5.xml"/><Relationship Id="rId43" Type="http://schemas.openxmlformats.org/officeDocument/2006/relationships/notesSlide" Target="notesSlides/notesSlide6.xml"/><Relationship Id="rId44" Type="http://schemas.openxmlformats.org/officeDocument/2006/relationships/font" Target="fonts/font44.fntdata"/><Relationship Id="rId45" Type="http://schemas.openxmlformats.org/officeDocument/2006/relationships/font" Target="fonts/font45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72372"/>
            <a:ext cx="4463681" cy="9542257"/>
          </a:xfrm>
          <a:custGeom>
            <a:avLst/>
            <a:gdLst/>
            <a:ahLst/>
            <a:cxnLst/>
            <a:rect r="r" b="b" t="t" l="l"/>
            <a:pathLst>
              <a:path h="9542257" w="4463681">
                <a:moveTo>
                  <a:pt x="0" y="0"/>
                </a:moveTo>
                <a:lnTo>
                  <a:pt x="4463681" y="0"/>
                </a:lnTo>
                <a:lnTo>
                  <a:pt x="4463681" y="9542256"/>
                </a:lnTo>
                <a:lnTo>
                  <a:pt x="0" y="9542256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6838650" y="3437577"/>
            <a:ext cx="9808248" cy="3390989"/>
            <a:chOff x="0" y="0"/>
            <a:chExt cx="13077664" cy="452131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266700"/>
              <a:ext cx="13077664" cy="32810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8209"/>
                </a:lnSpc>
                <a:buNone/>
              </a:pPr>
              <a:r>
                <a:rPr b="1" sz="17509">
                  <a:solidFill>
                    <a:srgbClr val="FF6200"/>
                  </a:solidFill>
                  <a:latin typeface="Inter Bold"/>
                </a:rPr>
                <a:t>ING LEO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200885" y="3489867"/>
              <a:ext cx="12675895" cy="10314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580"/>
                </a:lnSpc>
                <a:buNone/>
              </a:pPr>
              <a:r>
                <a:rPr b="1" sz="4700">
                  <a:solidFill>
                    <a:srgbClr val="FF6200"/>
                  </a:solidFill>
                  <a:latin typeface="Inter Bold"/>
                </a:rPr>
                <a:t>THE FUTURE OF BANKING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992802" y="9031392"/>
            <a:ext cx="549994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buNone/>
              <a:lnSpc>
                <a:spcPts val="3610"/>
              </a:lnSpc>
              <a:spcBef>
                <a:spcPct val="0"/>
              </a:spcBef>
            </a:pPr>
            <a:r>
              <a:rPr b="1" sz="3009">
                <a:solidFill>
                  <a:srgbClr val="FF6200"/>
                </a:solidFill>
                <a:latin typeface="Inter Bold"/>
              </a:rPr>
              <a:t>LIONESS &amp; THE THREE LIONS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429" y="3351524"/>
            <a:ext cx="16139143" cy="3583951"/>
            <a:chOff x="0" y="0"/>
            <a:chExt cx="21518857" cy="477860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778602" cy="4778602"/>
              <a:chOff x="0" y="0"/>
              <a:chExt cx="696849" cy="69684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96849" cy="696849"/>
              </a:xfrm>
              <a:custGeom>
                <a:avLst/>
                <a:gdLst/>
                <a:ahLst/>
                <a:cxnLst/>
                <a:rect r="r" b="b" t="t" l="l"/>
                <a:pathLst>
                  <a:path h="696849" w="696849">
                    <a:moveTo>
                      <a:pt x="64805" y="0"/>
                    </a:moveTo>
                    <a:lnTo>
                      <a:pt x="632044" y="0"/>
                    </a:lnTo>
                    <a:cubicBezTo>
                      <a:pt x="667835" y="0"/>
                      <a:pt x="696849" y="29014"/>
                      <a:pt x="696849" y="64805"/>
                    </a:cubicBezTo>
                    <a:lnTo>
                      <a:pt x="696849" y="632044"/>
                    </a:lnTo>
                    <a:cubicBezTo>
                      <a:pt x="696849" y="667835"/>
                      <a:pt x="667835" y="696849"/>
                      <a:pt x="632044" y="696849"/>
                    </a:cubicBezTo>
                    <a:lnTo>
                      <a:pt x="64805" y="696849"/>
                    </a:lnTo>
                    <a:cubicBezTo>
                      <a:pt x="29014" y="696849"/>
                      <a:pt x="0" y="667835"/>
                      <a:pt x="0" y="632044"/>
                    </a:cubicBezTo>
                    <a:lnTo>
                      <a:pt x="0" y="64805"/>
                    </a:lnTo>
                    <a:cubicBezTo>
                      <a:pt x="0" y="29014"/>
                      <a:pt x="29014" y="0"/>
                      <a:pt x="64805" y="0"/>
                    </a:cubicBezTo>
                    <a:close/>
                  </a:path>
                </a:pathLst>
              </a:custGeom>
            </p:spPr>
            <p:txBody>
              <a:bodyPr/>
              <a:p/>
            </p:txBody>
          </p:sp>
        </p:grpSp>
        <p:grpSp>
          <p:nvGrpSpPr>
            <p:cNvPr name="Group 5" id="5"/>
            <p:cNvGrpSpPr/>
            <p:nvPr/>
          </p:nvGrpSpPr>
          <p:grpSpPr>
            <a:xfrm rot="0">
              <a:off x="5578702" y="0"/>
              <a:ext cx="4778602" cy="4778602"/>
              <a:chOff x="0" y="0"/>
              <a:chExt cx="696849" cy="69684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96849" cy="696849"/>
              </a:xfrm>
              <a:custGeom>
                <a:avLst/>
                <a:gdLst/>
                <a:ahLst/>
                <a:cxnLst/>
                <a:rect r="r" b="b" t="t" l="l"/>
                <a:pathLst>
                  <a:path h="696849" w="696849">
                    <a:moveTo>
                      <a:pt x="64805" y="0"/>
                    </a:moveTo>
                    <a:lnTo>
                      <a:pt x="632044" y="0"/>
                    </a:lnTo>
                    <a:cubicBezTo>
                      <a:pt x="667835" y="0"/>
                      <a:pt x="696849" y="29014"/>
                      <a:pt x="696849" y="64805"/>
                    </a:cubicBezTo>
                    <a:lnTo>
                      <a:pt x="696849" y="632044"/>
                    </a:lnTo>
                    <a:cubicBezTo>
                      <a:pt x="696849" y="667835"/>
                      <a:pt x="667835" y="696849"/>
                      <a:pt x="632044" y="696849"/>
                    </a:cubicBezTo>
                    <a:lnTo>
                      <a:pt x="64805" y="696849"/>
                    </a:lnTo>
                    <a:cubicBezTo>
                      <a:pt x="29014" y="696849"/>
                      <a:pt x="0" y="667835"/>
                      <a:pt x="0" y="632044"/>
                    </a:cubicBezTo>
                    <a:lnTo>
                      <a:pt x="0" y="64805"/>
                    </a:lnTo>
                    <a:cubicBezTo>
                      <a:pt x="0" y="29014"/>
                      <a:pt x="29014" y="0"/>
                      <a:pt x="64805" y="0"/>
                    </a:cubicBezTo>
                    <a:close/>
                  </a:path>
                </a:pathLst>
              </a:custGeom>
            </p:spPr>
            <p:txBody>
              <a:bodyPr/>
              <a:p/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6740255" y="0"/>
              <a:ext cx="4778602" cy="4778602"/>
              <a:chOff x="0" y="0"/>
              <a:chExt cx="696849" cy="696849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96849" cy="696849"/>
              </a:xfrm>
              <a:custGeom>
                <a:avLst/>
                <a:gdLst/>
                <a:ahLst/>
                <a:cxnLst/>
                <a:rect r="r" b="b" t="t" l="l"/>
                <a:pathLst>
                  <a:path h="696849" w="696849">
                    <a:moveTo>
                      <a:pt x="64805" y="0"/>
                    </a:moveTo>
                    <a:lnTo>
                      <a:pt x="632044" y="0"/>
                    </a:lnTo>
                    <a:cubicBezTo>
                      <a:pt x="667835" y="0"/>
                      <a:pt x="696849" y="29014"/>
                      <a:pt x="696849" y="64805"/>
                    </a:cubicBezTo>
                    <a:lnTo>
                      <a:pt x="696849" y="632044"/>
                    </a:lnTo>
                    <a:cubicBezTo>
                      <a:pt x="696849" y="667835"/>
                      <a:pt x="667835" y="696849"/>
                      <a:pt x="632044" y="696849"/>
                    </a:cubicBezTo>
                    <a:lnTo>
                      <a:pt x="64805" y="696849"/>
                    </a:lnTo>
                    <a:cubicBezTo>
                      <a:pt x="29014" y="696849"/>
                      <a:pt x="0" y="667835"/>
                      <a:pt x="0" y="632044"/>
                    </a:cubicBezTo>
                    <a:lnTo>
                      <a:pt x="0" y="64805"/>
                    </a:lnTo>
                    <a:cubicBezTo>
                      <a:pt x="0" y="29014"/>
                      <a:pt x="29014" y="0"/>
                      <a:pt x="64805" y="0"/>
                    </a:cubicBezTo>
                    <a:close/>
                  </a:path>
                </a:pathLst>
              </a:custGeom>
            </p:spPr>
            <p:txBody>
              <a:bodyPr/>
              <a:p/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157404" y="0"/>
              <a:ext cx="4778602" cy="4778602"/>
              <a:chOff x="0" y="0"/>
              <a:chExt cx="696849" cy="69684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96849" cy="696849"/>
              </a:xfrm>
              <a:custGeom>
                <a:avLst/>
                <a:gdLst/>
                <a:ahLst/>
                <a:cxnLst/>
                <a:rect r="r" b="b" t="t" l="l"/>
                <a:pathLst>
                  <a:path h="696849" w="696849">
                    <a:moveTo>
                      <a:pt x="64805" y="0"/>
                    </a:moveTo>
                    <a:lnTo>
                      <a:pt x="632044" y="0"/>
                    </a:lnTo>
                    <a:cubicBezTo>
                      <a:pt x="667835" y="0"/>
                      <a:pt x="696849" y="29014"/>
                      <a:pt x="696849" y="64805"/>
                    </a:cubicBezTo>
                    <a:lnTo>
                      <a:pt x="696849" y="632044"/>
                    </a:lnTo>
                    <a:cubicBezTo>
                      <a:pt x="696849" y="667835"/>
                      <a:pt x="667835" y="696849"/>
                      <a:pt x="632044" y="696849"/>
                    </a:cubicBezTo>
                    <a:lnTo>
                      <a:pt x="64805" y="696849"/>
                    </a:lnTo>
                    <a:cubicBezTo>
                      <a:pt x="29014" y="696849"/>
                      <a:pt x="0" y="667835"/>
                      <a:pt x="0" y="632044"/>
                    </a:cubicBezTo>
                    <a:lnTo>
                      <a:pt x="0" y="64805"/>
                    </a:lnTo>
                    <a:cubicBezTo>
                      <a:pt x="0" y="29014"/>
                      <a:pt x="29014" y="0"/>
                      <a:pt x="64805" y="0"/>
                    </a:cubicBezTo>
                    <a:close/>
                  </a:path>
                </a:pathLst>
              </a:custGeom>
            </p:spPr>
            <p:txBody>
              <a:bodyPr/>
              <a:p/>
            </p:txBody>
          </p:sp>
        </p:grpSp>
      </p:grpSp>
      <p:sp>
        <p:nvSpPr>
          <p:cNvPr name="TextBox 11" id="11"/>
          <p:cNvSpPr txBox="true"/>
          <p:nvPr/>
        </p:nvSpPr>
        <p:spPr>
          <a:xfrm rot="0">
            <a:off x="5501130" y="7133617"/>
            <a:ext cx="309860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875581" y="7133617"/>
            <a:ext cx="1981646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994905" y="7133617"/>
            <a:ext cx="2479104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4190973" y="7133617"/>
            <a:ext cx="2461245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4930713" y="280987"/>
            <a:ext cx="8426574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5298635" y="1785938"/>
            <a:ext cx="769073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</a:p>
        </p:txBody>
      </p:sp>
      <p:sp>
        <p:nvSpPr>
          <p:cNvPr name="Freeform 17" id="17" descr="TU München's logo"/>
          <p:cNvSpPr/>
          <p:nvPr/>
        </p:nvSpPr>
        <p:spPr>
          <a:xfrm flipH="false" flipV="false" rot="0">
            <a:off x="8012935" y="8670698"/>
            <a:ext cx="2262129" cy="1175204"/>
          </a:xfrm>
          <a:custGeom>
            <a:avLst/>
            <a:gdLst/>
            <a:ahLst/>
            <a:cxnLst/>
            <a:rect r="r" b="b" t="t" l="l"/>
            <a:pathLst>
              <a:path h="1175204" w="2262129">
                <a:moveTo>
                  <a:pt x="0" y="0"/>
                </a:moveTo>
                <a:lnTo>
                  <a:pt x="2262130" y="0"/>
                </a:lnTo>
                <a:lnTo>
                  <a:pt x="2262130" y="1175204"/>
                </a:lnTo>
                <a:lnTo>
                  <a:pt x="0" y="1175204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p/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39411" cy="10315919"/>
            <a:chOff x="0" y="0"/>
            <a:chExt cx="144497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4978" cy="812800"/>
            </a:xfrm>
            <a:custGeom>
              <a:avLst/>
              <a:gdLst/>
              <a:ahLst/>
              <a:cxnLst/>
              <a:rect r="r" b="b" t="t" l="l"/>
              <a:pathLst>
                <a:path h="812800" w="1444978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6585772" y="8779193"/>
            <a:ext cx="10673528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20"/>
              </a:lnSpc>
              <a:buNone/>
            </a:pPr>
            <a:r>
              <a:rPr b="1" sz="7200">
                <a:solidFill>
                  <a:srgbClr val="FF6200"/>
                </a:solidFill>
                <a:latin typeface="Inter Bold"/>
              </a:rPr>
              <a:t>AGENDA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36519" y="4079782"/>
            <a:ext cx="14214962" cy="239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20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58287" y="1476375"/>
            <a:ext cx="9901013" cy="732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40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972615" y="9945924"/>
            <a:ext cx="2672358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58287" y="1476375"/>
            <a:ext cx="9901013" cy="732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40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867021" y="9945924"/>
            <a:ext cx="2883545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Logo Alternative"/>
          <p:cNvSpPr/>
          <p:nvPr/>
        </p:nvSpPr>
        <p:spPr>
          <a:xfrm flipH="false" flipV="false" rot="0">
            <a:off x="6489347" y="6782301"/>
            <a:ext cx="2555870" cy="2475999"/>
          </a:xfrm>
          <a:custGeom>
            <a:avLst/>
            <a:gdLst/>
            <a:ahLst/>
            <a:cxnLst/>
            <a:rect r="r" b="b" t="t" l="l"/>
            <a:pathLst>
              <a:path h="2475999" w="2555870">
                <a:moveTo>
                  <a:pt x="0" y="0"/>
                </a:moveTo>
                <a:lnTo>
                  <a:pt x="2555870" y="0"/>
                </a:lnTo>
                <a:lnTo>
                  <a:pt x="2555870" y="2475999"/>
                </a:lnTo>
                <a:lnTo>
                  <a:pt x="0" y="2475999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89541" y="-974596"/>
            <a:ext cx="6381957" cy="11421848"/>
          </a:xfrm>
          <a:custGeom>
            <a:avLst/>
            <a:gdLst/>
            <a:ahLst/>
            <a:cxnLst/>
            <a:rect r="r" b="b" t="t" l="l"/>
            <a:pathLst>
              <a:path h="11421848" w="6381957">
                <a:moveTo>
                  <a:pt x="0" y="0"/>
                </a:moveTo>
                <a:lnTo>
                  <a:pt x="6381958" y="0"/>
                </a:lnTo>
                <a:lnTo>
                  <a:pt x="6381958" y="11421848"/>
                </a:lnTo>
                <a:lnTo>
                  <a:pt x="0" y="11421848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6018331" y="1019175"/>
            <a:ext cx="11595807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4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292417" y="3631428"/>
            <a:ext cx="10325612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95400" indent="-647700" lvl="1">
              <a:lnSpc>
                <a:spcPts val="8400"/>
              </a:lnSpc>
              <a:buFont typeface="Arial"/>
              <a:buChar char="•"/>
            </a:pPr>
          </a:p>
        </p:txBody>
      </p:sp>
      <p:sp>
        <p:nvSpPr>
          <p:cNvPr name="Freeform 6" id="6" descr="Symbol"/>
          <p:cNvSpPr/>
          <p:nvPr/>
        </p:nvSpPr>
        <p:spPr>
          <a:xfrm flipH="false" flipV="false" rot="0">
            <a:off x="13945099" y="6782301"/>
            <a:ext cx="2475999" cy="2475999"/>
          </a:xfrm>
          <a:custGeom>
            <a:avLst/>
            <a:gdLst/>
            <a:ahLst/>
            <a:cxnLst/>
            <a:rect r="r" b="b" t="t" l="l"/>
            <a:pathLst>
              <a:path h="2475999" w="2475999">
                <a:moveTo>
                  <a:pt x="0" y="0"/>
                </a:moveTo>
                <a:lnTo>
                  <a:pt x="2475999" y="0"/>
                </a:lnTo>
                <a:lnTo>
                  <a:pt x="2475999" y="2475999"/>
                </a:lnTo>
                <a:lnTo>
                  <a:pt x="0" y="2475999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name="Freeform 7" id="7" descr="Symbol"/>
          <p:cNvSpPr/>
          <p:nvPr/>
        </p:nvSpPr>
        <p:spPr>
          <a:xfrm flipH="false" flipV="false" rot="0">
            <a:off x="9739533" y="6782301"/>
            <a:ext cx="3512055" cy="2475999"/>
          </a:xfrm>
          <a:custGeom>
            <a:avLst/>
            <a:gdLst/>
            <a:ahLst/>
            <a:cxnLst/>
            <a:rect r="r" b="b" t="t" l="l"/>
            <a:pathLst>
              <a:path h="2475999" w="3512055">
                <a:moveTo>
                  <a:pt x="0" y="0"/>
                </a:moveTo>
                <a:lnTo>
                  <a:pt x="3512055" y="0"/>
                </a:lnTo>
                <a:lnTo>
                  <a:pt x="3512055" y="2475999"/>
                </a:lnTo>
                <a:lnTo>
                  <a:pt x="0" y="2475999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10913604" y="9945924"/>
            <a:ext cx="2790379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36519" y="4079782"/>
            <a:ext cx="14214962" cy="239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20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04446" y="1266825"/>
            <a:ext cx="7953691" cy="204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599"/>
              </a:lnSpc>
              <a:buNone/>
            </a:pPr>
            <a:r>
              <a:rPr b="1" sz="14999">
                <a:solidFill>
                  <a:srgbClr val="FF6200"/>
                </a:solidFill>
                <a:latin typeface="Inter Bold"/>
              </a:rPr>
              <a:t>ING LEO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18485" y="3505200"/>
            <a:ext cx="10325612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38400" indent="-609600" lvl="1">
              <a:lnSpc>
                <a:spcPts val="8400"/>
              </a:lnSpc>
              <a:buChar char="•"/>
            </a:pPr>
            <a:r>
              <a:rPr b="1" sz="6000">
                <a:solidFill>
                  <a:srgbClr val="000000"/>
                </a:solidFill>
                <a:latin typeface="Inter Bold"/>
              </a:rPr>
              <a:t>AI-powered financial education</a:t>
            </a:r>
          </a:p>
          <a:p>
            <a:pPr lvl="1" marL="2438400" indent="-609600" algn="l">
              <a:lnSpc>
                <a:spcPts val="8400"/>
              </a:lnSpc>
              <a:buChar char="•"/>
            </a:pPr>
            <a:r>
              <a:rPr b="1" sz="6000">
                <a:solidFill>
                  <a:srgbClr val="000000"/>
                </a:solidFill>
                <a:latin typeface="Inter Bold"/>
              </a:rPr>
              <a:t>integrated into ING banking app</a:t>
            </a:r>
          </a:p>
          <a:p>
            <a:pPr lvl="1" marL="2438400" indent="-609600" algn="l">
              <a:lnSpc>
                <a:spcPts val="8400"/>
              </a:lnSpc>
              <a:buChar char="•"/>
            </a:pPr>
            <a:r>
              <a:rPr b="1" sz="6000">
                <a:solidFill>
                  <a:srgbClr val="000000"/>
                </a:solidFill>
                <a:latin typeface="Inter Bold"/>
              </a:rPr>
              <a:t>Leo Junior + Leo Pro modes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70447" y="72799"/>
            <a:ext cx="5095177" cy="10141402"/>
          </a:xfrm>
          <a:custGeom>
            <a:avLst/>
            <a:gdLst/>
            <a:ahLst/>
            <a:cxnLst/>
            <a:rect r="r" b="b" t="t" l="l"/>
            <a:pathLst>
              <a:path h="10141402" w="5095177">
                <a:moveTo>
                  <a:pt x="0" y="0"/>
                </a:moveTo>
                <a:lnTo>
                  <a:pt x="5095177" y="0"/>
                </a:lnTo>
                <a:lnTo>
                  <a:pt x="5095177" y="10141402"/>
                </a:lnTo>
                <a:lnTo>
                  <a:pt x="0" y="10141402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3317178" y="6890472"/>
            <a:ext cx="4970822" cy="3396528"/>
          </a:xfrm>
          <a:custGeom>
            <a:avLst/>
            <a:gdLst/>
            <a:ahLst/>
            <a:cxnLst/>
            <a:rect r="r" b="b" t="t" l="l"/>
            <a:pathLst>
              <a:path h="3396528" w="4970822">
                <a:moveTo>
                  <a:pt x="0" y="0"/>
                </a:moveTo>
                <a:lnTo>
                  <a:pt x="4970822" y="0"/>
                </a:lnTo>
                <a:lnTo>
                  <a:pt x="4970822" y="3396528"/>
                </a:lnTo>
                <a:lnTo>
                  <a:pt x="0" y="3396528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p/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81657" y="410338"/>
            <a:ext cx="4562343" cy="7084105"/>
            <a:chOff x="0" y="0"/>
            <a:chExt cx="6083124" cy="944547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867840" y="4837218"/>
              <a:ext cx="4314884" cy="2947328"/>
              <a:chOff x="0" y="0"/>
              <a:chExt cx="852323" cy="58218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52323" cy="582188"/>
              </a:xfrm>
              <a:custGeom>
                <a:avLst/>
                <a:gdLst/>
                <a:ahLst/>
                <a:cxnLst/>
                <a:rect r="r" b="b" t="t" l="l"/>
                <a:pathLst>
                  <a:path h="582188" w="852323">
                    <a:moveTo>
                      <a:pt x="122008" y="0"/>
                    </a:moveTo>
                    <a:lnTo>
                      <a:pt x="730315" y="0"/>
                    </a:lnTo>
                    <a:cubicBezTo>
                      <a:pt x="762673" y="0"/>
                      <a:pt x="793706" y="12854"/>
                      <a:pt x="816587" y="35735"/>
                    </a:cubicBezTo>
                    <a:cubicBezTo>
                      <a:pt x="839468" y="58616"/>
                      <a:pt x="852323" y="89650"/>
                      <a:pt x="852323" y="122008"/>
                    </a:cubicBezTo>
                    <a:lnTo>
                      <a:pt x="852323" y="460180"/>
                    </a:lnTo>
                    <a:cubicBezTo>
                      <a:pt x="852323" y="492539"/>
                      <a:pt x="839468" y="523572"/>
                      <a:pt x="816587" y="546453"/>
                    </a:cubicBezTo>
                    <a:cubicBezTo>
                      <a:pt x="793706" y="569334"/>
                      <a:pt x="762673" y="582188"/>
                      <a:pt x="730315" y="582188"/>
                    </a:cubicBezTo>
                    <a:lnTo>
                      <a:pt x="122008" y="582188"/>
                    </a:lnTo>
                    <a:cubicBezTo>
                      <a:pt x="89650" y="582188"/>
                      <a:pt x="58616" y="569334"/>
                      <a:pt x="35735" y="546453"/>
                    </a:cubicBezTo>
                    <a:cubicBezTo>
                      <a:pt x="12854" y="523572"/>
                      <a:pt x="0" y="492539"/>
                      <a:pt x="0" y="460180"/>
                    </a:cubicBezTo>
                    <a:lnTo>
                      <a:pt x="0" y="122008"/>
                    </a:lnTo>
                    <a:cubicBezTo>
                      <a:pt x="0" y="89650"/>
                      <a:pt x="12854" y="58616"/>
                      <a:pt x="35735" y="35735"/>
                    </a:cubicBezTo>
                    <a:cubicBezTo>
                      <a:pt x="58616" y="12854"/>
                      <a:pt x="89650" y="0"/>
                      <a:pt x="122008" y="0"/>
                    </a:cubicBezTo>
                    <a:close/>
                  </a:path>
                </a:pathLst>
              </a:custGeom>
              <a:solidFill>
                <a:srgbClr val="FF6200"/>
              </a:solidFill>
            </p:spPr>
            <p:txBody>
              <a:bodyPr/>
              <a:p/>
            </p:txBody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852323" cy="6107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618656" y="5075402"/>
              <a:ext cx="4845812" cy="2438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00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8226273"/>
              <a:ext cx="6083124" cy="1219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00"/>
                </a:lnSpc>
              </a:pP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1194736" y="0"/>
              <a:ext cx="3693652" cy="4674596"/>
            </a:xfrm>
            <a:custGeom>
              <a:avLst/>
              <a:gdLst/>
              <a:ahLst/>
              <a:cxnLst/>
              <a:rect r="r" b="b" t="t" l="l"/>
              <a:pathLst>
                <a:path h="4674596" w="3693652">
                  <a:moveTo>
                    <a:pt x="0" y="0"/>
                  </a:moveTo>
                  <a:lnTo>
                    <a:pt x="3693652" y="0"/>
                  </a:lnTo>
                  <a:lnTo>
                    <a:pt x="3693652" y="4674596"/>
                  </a:lnTo>
                  <a:lnTo>
                    <a:pt x="0" y="4674596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9146733" y="242787"/>
            <a:ext cx="4562343" cy="7251656"/>
            <a:chOff x="0" y="0"/>
            <a:chExt cx="6083124" cy="966887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867840" y="5060620"/>
              <a:ext cx="4314884" cy="2947328"/>
              <a:chOff x="0" y="0"/>
              <a:chExt cx="852323" cy="58218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52323" cy="582188"/>
              </a:xfrm>
              <a:custGeom>
                <a:avLst/>
                <a:gdLst/>
                <a:ahLst/>
                <a:cxnLst/>
                <a:rect r="r" b="b" t="t" l="l"/>
                <a:pathLst>
                  <a:path h="582188" w="852323">
                    <a:moveTo>
                      <a:pt x="122008" y="0"/>
                    </a:moveTo>
                    <a:lnTo>
                      <a:pt x="730315" y="0"/>
                    </a:lnTo>
                    <a:cubicBezTo>
                      <a:pt x="762673" y="0"/>
                      <a:pt x="793706" y="12854"/>
                      <a:pt x="816587" y="35735"/>
                    </a:cubicBezTo>
                    <a:cubicBezTo>
                      <a:pt x="839468" y="58616"/>
                      <a:pt x="852323" y="89650"/>
                      <a:pt x="852323" y="122008"/>
                    </a:cubicBezTo>
                    <a:lnTo>
                      <a:pt x="852323" y="460180"/>
                    </a:lnTo>
                    <a:cubicBezTo>
                      <a:pt x="852323" y="492539"/>
                      <a:pt x="839468" y="523572"/>
                      <a:pt x="816587" y="546453"/>
                    </a:cubicBezTo>
                    <a:cubicBezTo>
                      <a:pt x="793706" y="569334"/>
                      <a:pt x="762673" y="582188"/>
                      <a:pt x="730315" y="582188"/>
                    </a:cubicBezTo>
                    <a:lnTo>
                      <a:pt x="122008" y="582188"/>
                    </a:lnTo>
                    <a:cubicBezTo>
                      <a:pt x="89650" y="582188"/>
                      <a:pt x="58616" y="569334"/>
                      <a:pt x="35735" y="546453"/>
                    </a:cubicBezTo>
                    <a:cubicBezTo>
                      <a:pt x="12854" y="523572"/>
                      <a:pt x="0" y="492539"/>
                      <a:pt x="0" y="460180"/>
                    </a:cubicBezTo>
                    <a:lnTo>
                      <a:pt x="0" y="122008"/>
                    </a:lnTo>
                    <a:cubicBezTo>
                      <a:pt x="0" y="89650"/>
                      <a:pt x="12854" y="58616"/>
                      <a:pt x="35735" y="35735"/>
                    </a:cubicBezTo>
                    <a:cubicBezTo>
                      <a:pt x="58616" y="12854"/>
                      <a:pt x="89650" y="0"/>
                      <a:pt x="122008" y="0"/>
                    </a:cubicBezTo>
                    <a:close/>
                  </a:path>
                </a:pathLst>
              </a:custGeom>
              <a:solidFill>
                <a:srgbClr val="FF6200"/>
              </a:solidFill>
            </p:spPr>
            <p:txBody>
              <a:bodyPr/>
              <a:p/>
            </p:txBody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852323" cy="6107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618656" y="5298804"/>
              <a:ext cx="4845812" cy="2438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00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8449675"/>
              <a:ext cx="6083124" cy="1219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00"/>
                </a:lnSpc>
              </a:pP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1017576" y="0"/>
              <a:ext cx="4047971" cy="4897998"/>
            </a:xfrm>
            <a:custGeom>
              <a:avLst/>
              <a:gdLst/>
              <a:ahLst/>
              <a:cxnLst/>
              <a:rect r="r" b="b" t="t" l="l"/>
              <a:pathLst>
                <a:path h="4897998" w="4047971">
                  <a:moveTo>
                    <a:pt x="0" y="0"/>
                  </a:moveTo>
                  <a:lnTo>
                    <a:pt x="4047972" y="0"/>
                  </a:lnTo>
                  <a:lnTo>
                    <a:pt x="4047972" y="4897998"/>
                  </a:lnTo>
                  <a:lnTo>
                    <a:pt x="0" y="489799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p/>
          </p:txBody>
        </p:sp>
      </p:grpSp>
      <p:sp>
        <p:nvSpPr>
          <p:cNvPr name="AutoShape 16" id="16"/>
          <p:cNvSpPr/>
          <p:nvPr/>
        </p:nvSpPr>
        <p:spPr>
          <a:xfrm flipH="true">
            <a:off x="9144000" y="0"/>
            <a:ext cx="0" cy="1028700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253741" y="519690"/>
            <a:ext cx="4791908" cy="9537778"/>
          </a:xfrm>
          <a:custGeom>
            <a:avLst/>
            <a:gdLst/>
            <a:ahLst/>
            <a:cxnLst/>
            <a:rect r="r" b="b" t="t" l="l"/>
            <a:pathLst>
              <a:path h="9537778" w="4791908">
                <a:moveTo>
                  <a:pt x="0" y="0"/>
                </a:moveTo>
                <a:lnTo>
                  <a:pt x="4791908" y="0"/>
                </a:lnTo>
                <a:lnTo>
                  <a:pt x="4791908" y="9537778"/>
                </a:lnTo>
                <a:lnTo>
                  <a:pt x="0" y="9537778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13239750" y="519690"/>
            <a:ext cx="4762028" cy="9743281"/>
          </a:xfrm>
          <a:custGeom>
            <a:avLst/>
            <a:gdLst/>
            <a:ahLst/>
            <a:cxnLst/>
            <a:rect r="r" b="b" t="t" l="l"/>
            <a:pathLst>
              <a:path h="9743281" w="4762028">
                <a:moveTo>
                  <a:pt x="0" y="0"/>
                </a:moveTo>
                <a:lnTo>
                  <a:pt x="4762028" y="0"/>
                </a:lnTo>
                <a:lnTo>
                  <a:pt x="4762028" y="9743281"/>
                </a:lnTo>
                <a:lnTo>
                  <a:pt x="0" y="9743281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p/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6550" y="372372"/>
            <a:ext cx="4463681" cy="9542257"/>
          </a:xfrm>
          <a:custGeom>
            <a:avLst/>
            <a:gdLst/>
            <a:ahLst/>
            <a:cxnLst/>
            <a:rect r="r" b="b" t="t" l="l"/>
            <a:pathLst>
              <a:path h="9542257" w="4463681">
                <a:moveTo>
                  <a:pt x="0" y="0"/>
                </a:moveTo>
                <a:lnTo>
                  <a:pt x="4463681" y="0"/>
                </a:lnTo>
                <a:lnTo>
                  <a:pt x="4463681" y="9542256"/>
                </a:lnTo>
                <a:lnTo>
                  <a:pt x="0" y="9542256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9758178" y="596458"/>
            <a:ext cx="5865393" cy="9208068"/>
            <a:chOff x="0" y="0"/>
            <a:chExt cx="7820524" cy="1227742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1115703" y="6283855"/>
              <a:ext cx="5547257" cy="3789114"/>
              <a:chOff x="0" y="0"/>
              <a:chExt cx="852323" cy="582188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52323" cy="582188"/>
              </a:xfrm>
              <a:custGeom>
                <a:avLst/>
                <a:gdLst/>
                <a:ahLst/>
                <a:cxnLst/>
                <a:rect r="r" b="b" t="t" l="l"/>
                <a:pathLst>
                  <a:path h="582188" w="852323">
                    <a:moveTo>
                      <a:pt x="122008" y="0"/>
                    </a:moveTo>
                    <a:lnTo>
                      <a:pt x="730315" y="0"/>
                    </a:lnTo>
                    <a:cubicBezTo>
                      <a:pt x="762673" y="0"/>
                      <a:pt x="793706" y="12854"/>
                      <a:pt x="816587" y="35735"/>
                    </a:cubicBezTo>
                    <a:cubicBezTo>
                      <a:pt x="839468" y="58616"/>
                      <a:pt x="852323" y="89650"/>
                      <a:pt x="852323" y="122008"/>
                    </a:cubicBezTo>
                    <a:lnTo>
                      <a:pt x="852323" y="460180"/>
                    </a:lnTo>
                    <a:cubicBezTo>
                      <a:pt x="852323" y="492539"/>
                      <a:pt x="839468" y="523572"/>
                      <a:pt x="816587" y="546453"/>
                    </a:cubicBezTo>
                    <a:cubicBezTo>
                      <a:pt x="793706" y="569334"/>
                      <a:pt x="762673" y="582188"/>
                      <a:pt x="730315" y="582188"/>
                    </a:cubicBezTo>
                    <a:lnTo>
                      <a:pt x="122008" y="582188"/>
                    </a:lnTo>
                    <a:cubicBezTo>
                      <a:pt x="89650" y="582188"/>
                      <a:pt x="58616" y="569334"/>
                      <a:pt x="35735" y="546453"/>
                    </a:cubicBezTo>
                    <a:cubicBezTo>
                      <a:pt x="12854" y="523572"/>
                      <a:pt x="0" y="492539"/>
                      <a:pt x="0" y="460180"/>
                    </a:cubicBezTo>
                    <a:lnTo>
                      <a:pt x="0" y="122008"/>
                    </a:lnTo>
                    <a:cubicBezTo>
                      <a:pt x="0" y="89650"/>
                      <a:pt x="12854" y="58616"/>
                      <a:pt x="35735" y="35735"/>
                    </a:cubicBezTo>
                    <a:cubicBezTo>
                      <a:pt x="58616" y="12854"/>
                      <a:pt x="89650" y="0"/>
                      <a:pt x="122008" y="0"/>
                    </a:cubicBezTo>
                    <a:close/>
                  </a:path>
                </a:pathLst>
              </a:custGeom>
              <a:solidFill>
                <a:srgbClr val="FF6200"/>
              </a:solidFill>
            </p:spPr>
            <p:txBody>
              <a:bodyPr/>
              <a:p/>
            </p:txBody>
          </p:sp>
          <p:sp>
            <p:nvSpPr>
              <p:cNvPr name="TextBox 6" id="6"/>
              <p:cNvSpPr txBox="true"/>
              <p:nvPr/>
            </p:nvSpPr>
            <p:spPr>
              <a:xfrm>
                <a:off x="0" y="-28575"/>
                <a:ext cx="852323" cy="6107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795350" y="6590067"/>
              <a:ext cx="6229824" cy="3134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256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0710009"/>
              <a:ext cx="7820524" cy="1567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256"/>
                </a:lnSpc>
              </a:pP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1535964" y="0"/>
              <a:ext cx="4748596" cy="6009707"/>
            </a:xfrm>
            <a:custGeom>
              <a:avLst/>
              <a:gdLst/>
              <a:ahLst/>
              <a:cxnLst/>
              <a:rect r="r" b="b" t="t" l="l"/>
              <a:pathLst>
                <a:path h="6009707" w="4748596">
                  <a:moveTo>
                    <a:pt x="0" y="0"/>
                  </a:moveTo>
                  <a:lnTo>
                    <a:pt x="4748596" y="0"/>
                  </a:lnTo>
                  <a:lnTo>
                    <a:pt x="4748596" y="6009707"/>
                  </a:lnTo>
                  <a:lnTo>
                    <a:pt x="0" y="6009707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p/>
          </p:txBody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64612" y="3717775"/>
            <a:ext cx="11594688" cy="3371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38400" indent="-609600" lvl="1">
              <a:lnSpc>
                <a:spcPts val="9000"/>
              </a:lnSpc>
              <a:buChar char="•"/>
            </a:pPr>
            <a:r>
              <a:rPr b="1" sz="6000">
                <a:solidFill>
                  <a:srgbClr val="000000"/>
                </a:solidFill>
                <a:latin typeface="Inter Bold"/>
              </a:rPr>
              <a:t>virtual salary with tax deductions</a:t>
            </a:r>
          </a:p>
          <a:p>
            <a:pPr lvl="1" marL="2438400" indent="-609600" algn="l">
              <a:lnSpc>
                <a:spcPts val="9000"/>
              </a:lnSpc>
              <a:buChar char="•"/>
            </a:pPr>
            <a:r>
              <a:rPr b="1" sz="6000">
                <a:solidFill>
                  <a:srgbClr val="000000"/>
                </a:solidFill>
                <a:latin typeface="Inter Bold"/>
              </a:rPr>
              <a:t>Leo explains taxes in simple language</a:t>
            </a:r>
          </a:p>
          <a:p>
            <a:pPr lvl="1" marL="2438400" indent="-609600" algn="l">
              <a:lnSpc>
                <a:spcPts val="9000"/>
              </a:lnSpc>
              <a:buChar char="•"/>
            </a:pPr>
            <a:r>
              <a:rPr b="1" sz="6000">
                <a:solidFill>
                  <a:srgbClr val="FF6200"/>
                </a:solidFill>
                <a:latin typeface="Inter Bold"/>
              </a:rPr>
              <a:t>LIVE DEMO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61987" y="1028700"/>
            <a:ext cx="12428816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lnSpc>
                <a:spcPts val="10800"/>
              </a:lnSpc>
              <a:buNone/>
            </a:pPr>
            <a:r>
              <a:rPr b="1" sz="9000">
                <a:solidFill>
                  <a:srgbClr val="FF6200"/>
                </a:solidFill>
                <a:latin typeface="Inter Bold"/>
              </a:rPr>
              <a:t>Real-World Simulation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72799"/>
            <a:ext cx="5095177" cy="10141402"/>
          </a:xfrm>
          <a:custGeom>
            <a:avLst/>
            <a:gdLst/>
            <a:ahLst/>
            <a:cxnLst/>
            <a:rect r="r" b="b" t="t" l="l"/>
            <a:pathLst>
              <a:path h="10141402" w="5095177">
                <a:moveTo>
                  <a:pt x="0" y="0"/>
                </a:moveTo>
                <a:lnTo>
                  <a:pt x="5095177" y="0"/>
                </a:lnTo>
                <a:lnTo>
                  <a:pt x="5095177" y="10141402"/>
                </a:lnTo>
                <a:lnTo>
                  <a:pt x="0" y="10141402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14306282" y="8578463"/>
            <a:ext cx="3693391" cy="1517234"/>
            <a:chOff x="0" y="0"/>
            <a:chExt cx="4924521" cy="202297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1769500" y="0"/>
              <a:ext cx="2961638" cy="2022979"/>
              <a:chOff x="0" y="0"/>
              <a:chExt cx="852323" cy="58218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52323" cy="582188"/>
              </a:xfrm>
              <a:custGeom>
                <a:avLst/>
                <a:gdLst/>
                <a:ahLst/>
                <a:cxnLst/>
                <a:rect r="r" b="b" t="t" l="l"/>
                <a:pathLst>
                  <a:path h="582188" w="852323">
                    <a:moveTo>
                      <a:pt x="122008" y="0"/>
                    </a:moveTo>
                    <a:lnTo>
                      <a:pt x="730315" y="0"/>
                    </a:lnTo>
                    <a:cubicBezTo>
                      <a:pt x="762673" y="0"/>
                      <a:pt x="793706" y="12854"/>
                      <a:pt x="816587" y="35735"/>
                    </a:cubicBezTo>
                    <a:cubicBezTo>
                      <a:pt x="839468" y="58616"/>
                      <a:pt x="852323" y="89650"/>
                      <a:pt x="852323" y="122008"/>
                    </a:cubicBezTo>
                    <a:lnTo>
                      <a:pt x="852323" y="460180"/>
                    </a:lnTo>
                    <a:cubicBezTo>
                      <a:pt x="852323" y="492539"/>
                      <a:pt x="839468" y="523572"/>
                      <a:pt x="816587" y="546453"/>
                    </a:cubicBezTo>
                    <a:cubicBezTo>
                      <a:pt x="793706" y="569334"/>
                      <a:pt x="762673" y="582188"/>
                      <a:pt x="730315" y="582188"/>
                    </a:cubicBezTo>
                    <a:lnTo>
                      <a:pt x="122008" y="582188"/>
                    </a:lnTo>
                    <a:cubicBezTo>
                      <a:pt x="89650" y="582188"/>
                      <a:pt x="58616" y="569334"/>
                      <a:pt x="35735" y="546453"/>
                    </a:cubicBezTo>
                    <a:cubicBezTo>
                      <a:pt x="12854" y="523572"/>
                      <a:pt x="0" y="492539"/>
                      <a:pt x="0" y="460180"/>
                    </a:cubicBezTo>
                    <a:lnTo>
                      <a:pt x="0" y="122008"/>
                    </a:lnTo>
                    <a:cubicBezTo>
                      <a:pt x="0" y="89650"/>
                      <a:pt x="12854" y="58616"/>
                      <a:pt x="35735" y="35735"/>
                    </a:cubicBezTo>
                    <a:cubicBezTo>
                      <a:pt x="58616" y="12854"/>
                      <a:pt x="89650" y="0"/>
                      <a:pt x="122008" y="0"/>
                    </a:cubicBezTo>
                    <a:close/>
                  </a:path>
                </a:pathLst>
              </a:custGeom>
              <a:solidFill>
                <a:srgbClr val="FF6200"/>
              </a:solidFill>
            </p:spPr>
            <p:txBody>
              <a:bodyPr/>
              <a:p/>
            </p:txBody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852323" cy="6107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598466" y="153959"/>
              <a:ext cx="3326055" cy="16831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>
                <a:lnSpc>
                  <a:spcPts val="4941"/>
                </a:lnSpc>
                <a:buNone/>
              </a:pPr>
              <a:r>
                <a:rPr b="1" sz="4118">
                  <a:solidFill>
                    <a:srgbClr val="FFFFFF"/>
                  </a:solidFill>
                  <a:latin typeface="Inter Bold"/>
                </a:rPr>
                <a:t>junior mode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98466" cy="2022979"/>
            </a:xfrm>
            <a:custGeom>
              <a:avLst/>
              <a:gdLst/>
              <a:ahLst/>
              <a:cxnLst/>
              <a:rect r="r" b="b" t="t" l="l"/>
              <a:pathLst>
                <a:path h="2022979" w="1598466">
                  <a:moveTo>
                    <a:pt x="0" y="0"/>
                  </a:moveTo>
                  <a:lnTo>
                    <a:pt x="1598466" y="0"/>
                  </a:lnTo>
                  <a:lnTo>
                    <a:pt x="1598466" y="2022979"/>
                  </a:lnTo>
                  <a:lnTo>
                    <a:pt x="0" y="2022979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p/>
          </p:txBody>
        </p:sp>
      </p:grp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40864" y="4083305"/>
            <a:ext cx="12783780" cy="222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463040" indent="-365760" lvl="1">
              <a:lnSpc>
                <a:spcPts val="5000"/>
              </a:lnSpc>
              <a:buChar char="•"/>
            </a:pPr>
            <a:r>
              <a:rPr b="1" sz="3600">
                <a:solidFill>
                  <a:srgbClr val="000000"/>
                </a:solidFill>
                <a:latin typeface="Inter Bold"/>
              </a:rPr>
              <a:t>real stock prices, virtual money</a:t>
            </a:r>
          </a:p>
          <a:p>
            <a:pPr lvl="1" marL="1463040" indent="-365760" algn="l">
              <a:lnSpc>
                <a:spcPts val="5000"/>
              </a:lnSpc>
              <a:buChar char="•"/>
            </a:pPr>
            <a:r>
              <a:rPr b="1" sz="3600">
                <a:solidFill>
                  <a:srgbClr val="000000"/>
                </a:solidFill>
                <a:latin typeface="Inter Bold"/>
              </a:rPr>
              <a:t>Leo explains why prices move</a:t>
            </a:r>
          </a:p>
          <a:p>
            <a:pPr lvl="1" marL="1463040" indent="-365760" algn="l">
              <a:lnSpc>
                <a:spcPts val="5000"/>
              </a:lnSpc>
              <a:buChar char="•"/>
            </a:pPr>
            <a:r>
              <a:rPr b="1" sz="3600">
                <a:solidFill>
                  <a:srgbClr val="FF6200"/>
                </a:solidFill>
                <a:latin typeface="Inter Bold"/>
              </a:rPr>
              <a:t>LIVE DEMO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860284" y="1038225"/>
            <a:ext cx="11665202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lnSpc>
                <a:spcPts val="11999"/>
              </a:lnSpc>
              <a:buNone/>
            </a:pPr>
            <a:r>
              <a:rPr b="1" sz="9999">
                <a:solidFill>
                  <a:srgbClr val="FF6200"/>
                </a:solidFill>
                <a:latin typeface="Inter Bold"/>
              </a:rPr>
              <a:t>Market Simulation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74184" y="206841"/>
            <a:ext cx="4986025" cy="9873317"/>
          </a:xfrm>
          <a:custGeom>
            <a:avLst/>
            <a:gdLst/>
            <a:ahLst/>
            <a:cxnLst/>
            <a:rect r="r" b="b" t="t" l="l"/>
            <a:pathLst>
              <a:path h="9873317" w="4986025">
                <a:moveTo>
                  <a:pt x="0" y="0"/>
                </a:moveTo>
                <a:lnTo>
                  <a:pt x="4986025" y="0"/>
                </a:lnTo>
                <a:lnTo>
                  <a:pt x="4986025" y="9873318"/>
                </a:lnTo>
                <a:lnTo>
                  <a:pt x="0" y="9873318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14306282" y="8578463"/>
            <a:ext cx="3693391" cy="1517234"/>
            <a:chOff x="0" y="0"/>
            <a:chExt cx="4924521" cy="202297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1769500" y="0"/>
              <a:ext cx="2961638" cy="2022979"/>
              <a:chOff x="0" y="0"/>
              <a:chExt cx="852323" cy="58218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52323" cy="582188"/>
              </a:xfrm>
              <a:custGeom>
                <a:avLst/>
                <a:gdLst/>
                <a:ahLst/>
                <a:cxnLst/>
                <a:rect r="r" b="b" t="t" l="l"/>
                <a:pathLst>
                  <a:path h="582188" w="852323">
                    <a:moveTo>
                      <a:pt x="122008" y="0"/>
                    </a:moveTo>
                    <a:lnTo>
                      <a:pt x="730315" y="0"/>
                    </a:lnTo>
                    <a:cubicBezTo>
                      <a:pt x="762673" y="0"/>
                      <a:pt x="793706" y="12854"/>
                      <a:pt x="816587" y="35735"/>
                    </a:cubicBezTo>
                    <a:cubicBezTo>
                      <a:pt x="839468" y="58616"/>
                      <a:pt x="852323" y="89650"/>
                      <a:pt x="852323" y="122008"/>
                    </a:cubicBezTo>
                    <a:lnTo>
                      <a:pt x="852323" y="460180"/>
                    </a:lnTo>
                    <a:cubicBezTo>
                      <a:pt x="852323" y="492539"/>
                      <a:pt x="839468" y="523572"/>
                      <a:pt x="816587" y="546453"/>
                    </a:cubicBezTo>
                    <a:cubicBezTo>
                      <a:pt x="793706" y="569334"/>
                      <a:pt x="762673" y="582188"/>
                      <a:pt x="730315" y="582188"/>
                    </a:cubicBezTo>
                    <a:lnTo>
                      <a:pt x="122008" y="582188"/>
                    </a:lnTo>
                    <a:cubicBezTo>
                      <a:pt x="89650" y="582188"/>
                      <a:pt x="58616" y="569334"/>
                      <a:pt x="35735" y="546453"/>
                    </a:cubicBezTo>
                    <a:cubicBezTo>
                      <a:pt x="12854" y="523572"/>
                      <a:pt x="0" y="492539"/>
                      <a:pt x="0" y="460180"/>
                    </a:cubicBezTo>
                    <a:lnTo>
                      <a:pt x="0" y="122008"/>
                    </a:lnTo>
                    <a:cubicBezTo>
                      <a:pt x="0" y="89650"/>
                      <a:pt x="12854" y="58616"/>
                      <a:pt x="35735" y="35735"/>
                    </a:cubicBezTo>
                    <a:cubicBezTo>
                      <a:pt x="58616" y="12854"/>
                      <a:pt x="89650" y="0"/>
                      <a:pt x="122008" y="0"/>
                    </a:cubicBezTo>
                    <a:close/>
                  </a:path>
                </a:pathLst>
              </a:custGeom>
              <a:solidFill>
                <a:srgbClr val="FF6200"/>
              </a:solidFill>
            </p:spPr>
            <p:txBody>
              <a:bodyPr/>
              <a:p/>
            </p:txBody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852323" cy="6107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598466" y="153959"/>
              <a:ext cx="3326055" cy="16831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>
                <a:lnSpc>
                  <a:spcPts val="4941"/>
                </a:lnSpc>
                <a:buNone/>
              </a:pPr>
              <a:r>
                <a:rPr b="1" sz="4118">
                  <a:solidFill>
                    <a:srgbClr val="FFFFFF"/>
                  </a:solidFill>
                  <a:latin typeface="Inter Bold"/>
                </a:rPr>
                <a:t>junior mode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98466" cy="2022979"/>
            </a:xfrm>
            <a:custGeom>
              <a:avLst/>
              <a:gdLst/>
              <a:ahLst/>
              <a:cxnLst/>
              <a:rect r="r" b="b" t="t" l="l"/>
              <a:pathLst>
                <a:path h="2022979" w="1598466">
                  <a:moveTo>
                    <a:pt x="0" y="0"/>
                  </a:moveTo>
                  <a:lnTo>
                    <a:pt x="1598466" y="0"/>
                  </a:lnTo>
                  <a:lnTo>
                    <a:pt x="1598466" y="2022979"/>
                  </a:lnTo>
                  <a:lnTo>
                    <a:pt x="0" y="2022979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p/>
          </p:txBody>
        </p:sp>
      </p:grp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0553" y="240413"/>
            <a:ext cx="4662546" cy="9815885"/>
          </a:xfrm>
          <a:custGeom>
            <a:avLst/>
            <a:gdLst/>
            <a:ahLst/>
            <a:cxnLst/>
            <a:rect r="r" b="b" t="t" l="l"/>
            <a:pathLst>
              <a:path h="9815885" w="4662546">
                <a:moveTo>
                  <a:pt x="0" y="0"/>
                </a:moveTo>
                <a:lnTo>
                  <a:pt x="4662546" y="0"/>
                </a:lnTo>
                <a:lnTo>
                  <a:pt x="4662546" y="9815885"/>
                </a:lnTo>
                <a:lnTo>
                  <a:pt x="0" y="9815885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6472095" y="3948249"/>
            <a:ext cx="10278170" cy="1085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4080" indent="-223520" lvl="1">
              <a:lnSpc>
                <a:spcPts val="3000"/>
              </a:lnSpc>
              <a:buChar char="•"/>
            </a:pPr>
            <a:r>
              <a:rPr b="1" sz="2200">
                <a:solidFill>
                  <a:srgbClr val="000000"/>
                </a:solidFill>
                <a:latin typeface="Inter Bold"/>
              </a:rPr>
              <a:t>set targets, track progress</a:t>
            </a:r>
          </a:p>
          <a:p>
            <a:pPr lvl="1" marL="894080" indent="-223520" algn="l">
              <a:lnSpc>
                <a:spcPts val="3000"/>
              </a:lnSpc>
              <a:buChar char="•"/>
            </a:pPr>
            <a:r>
              <a:rPr b="1" sz="2200">
                <a:solidFill>
                  <a:srgbClr val="000000"/>
                </a:solidFill>
                <a:latin typeface="Inter Bold"/>
              </a:rPr>
              <a:t>Leo encourages at milestones</a:t>
            </a:r>
          </a:p>
          <a:p>
            <a:pPr lvl="1" marL="894080" indent="-223520" algn="l">
              <a:lnSpc>
                <a:spcPts val="3000"/>
              </a:lnSpc>
              <a:buChar char="•"/>
            </a:pPr>
            <a:r>
              <a:rPr b="1" sz="2200">
                <a:solidFill>
                  <a:srgbClr val="FF6200"/>
                </a:solidFill>
                <a:latin typeface="Inter Bold"/>
              </a:rPr>
              <a:t>LIVE DEMO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60284" y="1038225"/>
            <a:ext cx="11665202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lnSpc>
                <a:spcPts val="11999"/>
              </a:lnSpc>
              <a:buNone/>
            </a:pPr>
            <a:r>
              <a:rPr b="1" sz="9999">
                <a:solidFill>
                  <a:srgbClr val="FF6200"/>
                </a:solidFill>
                <a:latin typeface="Inter Bold"/>
              </a:rPr>
              <a:t>Saving Goals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306282" y="8578463"/>
            <a:ext cx="3693391" cy="1517234"/>
            <a:chOff x="0" y="0"/>
            <a:chExt cx="4924521" cy="202297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1769500" y="0"/>
              <a:ext cx="2961638" cy="2022979"/>
              <a:chOff x="0" y="0"/>
              <a:chExt cx="852323" cy="58218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52323" cy="582188"/>
              </a:xfrm>
              <a:custGeom>
                <a:avLst/>
                <a:gdLst/>
                <a:ahLst/>
                <a:cxnLst/>
                <a:rect r="r" b="b" t="t" l="l"/>
                <a:pathLst>
                  <a:path h="582188" w="852323">
                    <a:moveTo>
                      <a:pt x="122008" y="0"/>
                    </a:moveTo>
                    <a:lnTo>
                      <a:pt x="730315" y="0"/>
                    </a:lnTo>
                    <a:cubicBezTo>
                      <a:pt x="762673" y="0"/>
                      <a:pt x="793706" y="12854"/>
                      <a:pt x="816587" y="35735"/>
                    </a:cubicBezTo>
                    <a:cubicBezTo>
                      <a:pt x="839468" y="58616"/>
                      <a:pt x="852323" y="89650"/>
                      <a:pt x="852323" y="122008"/>
                    </a:cubicBezTo>
                    <a:lnTo>
                      <a:pt x="852323" y="460180"/>
                    </a:lnTo>
                    <a:cubicBezTo>
                      <a:pt x="852323" y="492539"/>
                      <a:pt x="839468" y="523572"/>
                      <a:pt x="816587" y="546453"/>
                    </a:cubicBezTo>
                    <a:cubicBezTo>
                      <a:pt x="793706" y="569334"/>
                      <a:pt x="762673" y="582188"/>
                      <a:pt x="730315" y="582188"/>
                    </a:cubicBezTo>
                    <a:lnTo>
                      <a:pt x="122008" y="582188"/>
                    </a:lnTo>
                    <a:cubicBezTo>
                      <a:pt x="89650" y="582188"/>
                      <a:pt x="58616" y="569334"/>
                      <a:pt x="35735" y="546453"/>
                    </a:cubicBezTo>
                    <a:cubicBezTo>
                      <a:pt x="12854" y="523572"/>
                      <a:pt x="0" y="492539"/>
                      <a:pt x="0" y="460180"/>
                    </a:cubicBezTo>
                    <a:lnTo>
                      <a:pt x="0" y="122008"/>
                    </a:lnTo>
                    <a:cubicBezTo>
                      <a:pt x="0" y="89650"/>
                      <a:pt x="12854" y="58616"/>
                      <a:pt x="35735" y="35735"/>
                    </a:cubicBezTo>
                    <a:cubicBezTo>
                      <a:pt x="58616" y="12854"/>
                      <a:pt x="89650" y="0"/>
                      <a:pt x="122008" y="0"/>
                    </a:cubicBezTo>
                    <a:close/>
                  </a:path>
                </a:pathLst>
              </a:custGeom>
              <a:solidFill>
                <a:srgbClr val="FF6200"/>
              </a:solidFill>
            </p:spPr>
            <p:txBody>
              <a:bodyPr/>
              <a:p/>
            </p:txBody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852323" cy="6107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598466" y="153959"/>
              <a:ext cx="3326055" cy="16831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>
                <a:lnSpc>
                  <a:spcPts val="4941"/>
                </a:lnSpc>
                <a:buNone/>
              </a:pPr>
              <a:r>
                <a:rPr b="1" sz="4118">
                  <a:solidFill>
                    <a:srgbClr val="FFFFFF"/>
                  </a:solidFill>
                  <a:latin typeface="Inter Bold"/>
                </a:rPr>
                <a:t>junior mode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98466" cy="2022979"/>
            </a:xfrm>
            <a:custGeom>
              <a:avLst/>
              <a:gdLst/>
              <a:ahLst/>
              <a:cxnLst/>
              <a:rect r="r" b="b" t="t" l="l"/>
              <a:pathLst>
                <a:path h="2022979" w="1598466">
                  <a:moveTo>
                    <a:pt x="0" y="0"/>
                  </a:moveTo>
                  <a:lnTo>
                    <a:pt x="1598466" y="0"/>
                  </a:lnTo>
                  <a:lnTo>
                    <a:pt x="1598466" y="2022979"/>
                  </a:lnTo>
                  <a:lnTo>
                    <a:pt x="0" y="2022979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p/>
          </p:txBody>
        </p:sp>
      </p:grp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28043" y="3557318"/>
            <a:ext cx="11479917" cy="3077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38400" indent="-609600" lvl="1">
              <a:lnSpc>
                <a:spcPts val="8244"/>
              </a:lnSpc>
              <a:buChar char="•"/>
            </a:pPr>
            <a:r>
              <a:rPr b="1" sz="6000">
                <a:solidFill>
                  <a:srgbClr val="000000"/>
                </a:solidFill>
                <a:latin typeface="Inter Bold"/>
              </a:rPr>
              <a:t>AI-generated questions, 3 levels</a:t>
            </a:r>
          </a:p>
          <a:p>
            <a:pPr lvl="1" marL="2438400" indent="-609600" algn="l">
              <a:lnSpc>
                <a:spcPts val="8244"/>
              </a:lnSpc>
              <a:buChar char="•"/>
            </a:pPr>
            <a:r>
              <a:rPr b="1" sz="6000">
                <a:solidFill>
                  <a:srgbClr val="000000"/>
                </a:solidFill>
                <a:latin typeface="Inter Bold"/>
              </a:rPr>
              <a:t>XP, badges, leaderboards</a:t>
            </a:r>
          </a:p>
          <a:p>
            <a:pPr lvl="1" marL="2438400" indent="-609600" algn="l">
              <a:lnSpc>
                <a:spcPts val="8244"/>
              </a:lnSpc>
              <a:buChar char="•"/>
            </a:pPr>
            <a:r>
              <a:rPr b="1" sz="6000">
                <a:solidFill>
                  <a:srgbClr val="000000"/>
                </a:solidFill>
                <a:latin typeface="Inter Bold"/>
              </a:rPr>
              <a:t>live quiz battles (like Kahoot)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336331" y="696248"/>
            <a:ext cx="12663341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lnSpc>
                <a:spcPts val="11999"/>
              </a:lnSpc>
              <a:buNone/>
            </a:pPr>
            <a:r>
              <a:rPr b="1" sz="9999">
                <a:solidFill>
                  <a:srgbClr val="FF6200"/>
                </a:solidFill>
                <a:latin typeface="Inter Bold"/>
              </a:rPr>
              <a:t>Quizzes &amp; Gamification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08438" y="453709"/>
            <a:ext cx="4714544" cy="9379582"/>
          </a:xfrm>
          <a:custGeom>
            <a:avLst/>
            <a:gdLst/>
            <a:ahLst/>
            <a:cxnLst/>
            <a:rect r="r" b="b" t="t" l="l"/>
            <a:pathLst>
              <a:path h="9379582" w="4714544">
                <a:moveTo>
                  <a:pt x="0" y="0"/>
                </a:moveTo>
                <a:lnTo>
                  <a:pt x="4714544" y="0"/>
                </a:lnTo>
                <a:lnTo>
                  <a:pt x="4714544" y="9379582"/>
                </a:lnTo>
                <a:lnTo>
                  <a:pt x="0" y="9379582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14306282" y="8578463"/>
            <a:ext cx="3693391" cy="1517234"/>
            <a:chOff x="0" y="0"/>
            <a:chExt cx="4924521" cy="202297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1769500" y="0"/>
              <a:ext cx="2961638" cy="2022979"/>
              <a:chOff x="0" y="0"/>
              <a:chExt cx="852323" cy="58218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52323" cy="582188"/>
              </a:xfrm>
              <a:custGeom>
                <a:avLst/>
                <a:gdLst/>
                <a:ahLst/>
                <a:cxnLst/>
                <a:rect r="r" b="b" t="t" l="l"/>
                <a:pathLst>
                  <a:path h="582188" w="852323">
                    <a:moveTo>
                      <a:pt x="122008" y="0"/>
                    </a:moveTo>
                    <a:lnTo>
                      <a:pt x="730315" y="0"/>
                    </a:lnTo>
                    <a:cubicBezTo>
                      <a:pt x="762673" y="0"/>
                      <a:pt x="793706" y="12854"/>
                      <a:pt x="816587" y="35735"/>
                    </a:cubicBezTo>
                    <a:cubicBezTo>
                      <a:pt x="839468" y="58616"/>
                      <a:pt x="852323" y="89650"/>
                      <a:pt x="852323" y="122008"/>
                    </a:cubicBezTo>
                    <a:lnTo>
                      <a:pt x="852323" y="460180"/>
                    </a:lnTo>
                    <a:cubicBezTo>
                      <a:pt x="852323" y="492539"/>
                      <a:pt x="839468" y="523572"/>
                      <a:pt x="816587" y="546453"/>
                    </a:cubicBezTo>
                    <a:cubicBezTo>
                      <a:pt x="793706" y="569334"/>
                      <a:pt x="762673" y="582188"/>
                      <a:pt x="730315" y="582188"/>
                    </a:cubicBezTo>
                    <a:lnTo>
                      <a:pt x="122008" y="582188"/>
                    </a:lnTo>
                    <a:cubicBezTo>
                      <a:pt x="89650" y="582188"/>
                      <a:pt x="58616" y="569334"/>
                      <a:pt x="35735" y="546453"/>
                    </a:cubicBezTo>
                    <a:cubicBezTo>
                      <a:pt x="12854" y="523572"/>
                      <a:pt x="0" y="492539"/>
                      <a:pt x="0" y="460180"/>
                    </a:cubicBezTo>
                    <a:lnTo>
                      <a:pt x="0" y="122008"/>
                    </a:lnTo>
                    <a:cubicBezTo>
                      <a:pt x="0" y="89650"/>
                      <a:pt x="12854" y="58616"/>
                      <a:pt x="35735" y="35735"/>
                    </a:cubicBezTo>
                    <a:cubicBezTo>
                      <a:pt x="58616" y="12854"/>
                      <a:pt x="89650" y="0"/>
                      <a:pt x="122008" y="0"/>
                    </a:cubicBezTo>
                    <a:close/>
                  </a:path>
                </a:pathLst>
              </a:custGeom>
              <a:solidFill>
                <a:srgbClr val="FF6200"/>
              </a:solidFill>
            </p:spPr>
            <p:txBody>
              <a:bodyPr/>
              <a:p/>
            </p:txBody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852323" cy="6107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598466" y="153959"/>
              <a:ext cx="3326055" cy="16831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>
                <a:lnSpc>
                  <a:spcPts val="4941"/>
                </a:lnSpc>
                <a:buNone/>
              </a:pPr>
              <a:r>
                <a:rPr b="1" sz="4118">
                  <a:solidFill>
                    <a:srgbClr val="FFFFFF"/>
                  </a:solidFill>
                  <a:latin typeface="Inter Bold"/>
                </a:rPr>
                <a:t>junior mode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98466" cy="2022979"/>
            </a:xfrm>
            <a:custGeom>
              <a:avLst/>
              <a:gdLst/>
              <a:ahLst/>
              <a:cxnLst/>
              <a:rect r="r" b="b" t="t" l="l"/>
              <a:pathLst>
                <a:path h="2022979" w="1598466">
                  <a:moveTo>
                    <a:pt x="0" y="0"/>
                  </a:moveTo>
                  <a:lnTo>
                    <a:pt x="1598466" y="0"/>
                  </a:lnTo>
                  <a:lnTo>
                    <a:pt x="1598466" y="2022979"/>
                  </a:lnTo>
                  <a:lnTo>
                    <a:pt x="0" y="2022979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p/>
          </p:txBody>
        </p:sp>
      </p:grp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1308" y="280559"/>
            <a:ext cx="4692738" cy="9725882"/>
          </a:xfrm>
          <a:custGeom>
            <a:avLst/>
            <a:gdLst/>
            <a:ahLst/>
            <a:cxnLst/>
            <a:rect r="r" b="b" t="t" l="l"/>
            <a:pathLst>
              <a:path h="9725882" w="4692738">
                <a:moveTo>
                  <a:pt x="0" y="0"/>
                </a:moveTo>
                <a:lnTo>
                  <a:pt x="4692738" y="0"/>
                </a:lnTo>
                <a:lnTo>
                  <a:pt x="4692738" y="9725882"/>
                </a:lnTo>
                <a:lnTo>
                  <a:pt x="0" y="9725882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6472095" y="3948249"/>
            <a:ext cx="10278170" cy="222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463040" indent="-365760" lvl="1">
              <a:lnSpc>
                <a:spcPts val="5000"/>
              </a:lnSpc>
              <a:buChar char="•"/>
            </a:pPr>
            <a:r>
              <a:rPr b="1" sz="3600">
                <a:solidFill>
                  <a:srgbClr val="000000"/>
                </a:solidFill>
                <a:latin typeface="Inter Bold"/>
              </a:rPr>
              <a:t>multiplayer quiz in real time</a:t>
            </a:r>
          </a:p>
          <a:p>
            <a:pPr lvl="1" marL="1463040" indent="-365760" algn="l">
              <a:lnSpc>
                <a:spcPts val="5000"/>
              </a:lnSpc>
              <a:buChar char="•"/>
            </a:pPr>
            <a:r>
              <a:rPr b="1" sz="3600">
                <a:solidFill>
                  <a:srgbClr val="000000"/>
                </a:solidFill>
                <a:latin typeface="Inter Bold"/>
              </a:rPr>
              <a:t>challenge friends &amp; classmates</a:t>
            </a:r>
          </a:p>
          <a:p>
            <a:pPr lvl="1" marL="1463040" indent="-365760" algn="l">
              <a:lnSpc>
                <a:spcPts val="5000"/>
              </a:lnSpc>
              <a:buChar char="•"/>
            </a:pPr>
            <a:r>
              <a:rPr b="1" sz="3600">
                <a:solidFill>
                  <a:srgbClr val="FF6200"/>
                </a:solidFill>
                <a:latin typeface="Inter Bold"/>
              </a:rPr>
              <a:t>LIVE DEMO WITH AUDIENCE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60284" y="1038225"/>
            <a:ext cx="11665202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lnSpc>
                <a:spcPts val="11999"/>
              </a:lnSpc>
              <a:buNone/>
            </a:pPr>
            <a:r>
              <a:rPr b="1" sz="9999">
                <a:solidFill>
                  <a:srgbClr val="FF6200"/>
                </a:solidFill>
                <a:latin typeface="Inter Bold"/>
              </a:rPr>
              <a:t>Live Quiz Battle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306282" y="8578463"/>
            <a:ext cx="3693391" cy="1517234"/>
            <a:chOff x="0" y="0"/>
            <a:chExt cx="4924521" cy="202297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1769500" y="0"/>
              <a:ext cx="2961638" cy="2022979"/>
              <a:chOff x="0" y="0"/>
              <a:chExt cx="852323" cy="58218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52323" cy="582188"/>
              </a:xfrm>
              <a:custGeom>
                <a:avLst/>
                <a:gdLst/>
                <a:ahLst/>
                <a:cxnLst/>
                <a:rect r="r" b="b" t="t" l="l"/>
                <a:pathLst>
                  <a:path h="582188" w="852323">
                    <a:moveTo>
                      <a:pt x="122008" y="0"/>
                    </a:moveTo>
                    <a:lnTo>
                      <a:pt x="730315" y="0"/>
                    </a:lnTo>
                    <a:cubicBezTo>
                      <a:pt x="762673" y="0"/>
                      <a:pt x="793706" y="12854"/>
                      <a:pt x="816587" y="35735"/>
                    </a:cubicBezTo>
                    <a:cubicBezTo>
                      <a:pt x="839468" y="58616"/>
                      <a:pt x="852323" y="89650"/>
                      <a:pt x="852323" y="122008"/>
                    </a:cubicBezTo>
                    <a:lnTo>
                      <a:pt x="852323" y="460180"/>
                    </a:lnTo>
                    <a:cubicBezTo>
                      <a:pt x="852323" y="492539"/>
                      <a:pt x="839468" y="523572"/>
                      <a:pt x="816587" y="546453"/>
                    </a:cubicBezTo>
                    <a:cubicBezTo>
                      <a:pt x="793706" y="569334"/>
                      <a:pt x="762673" y="582188"/>
                      <a:pt x="730315" y="582188"/>
                    </a:cubicBezTo>
                    <a:lnTo>
                      <a:pt x="122008" y="582188"/>
                    </a:lnTo>
                    <a:cubicBezTo>
                      <a:pt x="89650" y="582188"/>
                      <a:pt x="58616" y="569334"/>
                      <a:pt x="35735" y="546453"/>
                    </a:cubicBezTo>
                    <a:cubicBezTo>
                      <a:pt x="12854" y="523572"/>
                      <a:pt x="0" y="492539"/>
                      <a:pt x="0" y="460180"/>
                    </a:cubicBezTo>
                    <a:lnTo>
                      <a:pt x="0" y="122008"/>
                    </a:lnTo>
                    <a:cubicBezTo>
                      <a:pt x="0" y="89650"/>
                      <a:pt x="12854" y="58616"/>
                      <a:pt x="35735" y="35735"/>
                    </a:cubicBezTo>
                    <a:cubicBezTo>
                      <a:pt x="58616" y="12854"/>
                      <a:pt x="89650" y="0"/>
                      <a:pt x="122008" y="0"/>
                    </a:cubicBezTo>
                    <a:close/>
                  </a:path>
                </a:pathLst>
              </a:custGeom>
              <a:solidFill>
                <a:srgbClr val="FF6200"/>
              </a:solidFill>
            </p:spPr>
            <p:txBody>
              <a:bodyPr/>
              <a:p/>
            </p:txBody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852323" cy="6107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598466" y="153959"/>
              <a:ext cx="3326055" cy="16831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>
                <a:lnSpc>
                  <a:spcPts val="4941"/>
                </a:lnSpc>
                <a:buNone/>
              </a:pPr>
              <a:r>
                <a:rPr b="1" sz="4118">
                  <a:solidFill>
                    <a:srgbClr val="FFFFFF"/>
                  </a:solidFill>
                  <a:latin typeface="Inter Bold"/>
                </a:rPr>
                <a:t>junior mode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98466" cy="2022979"/>
            </a:xfrm>
            <a:custGeom>
              <a:avLst/>
              <a:gdLst/>
              <a:ahLst/>
              <a:cxnLst/>
              <a:rect r="r" b="b" t="t" l="l"/>
              <a:pathLst>
                <a:path h="2022979" w="1598466">
                  <a:moveTo>
                    <a:pt x="0" y="0"/>
                  </a:moveTo>
                  <a:lnTo>
                    <a:pt x="1598466" y="0"/>
                  </a:lnTo>
                  <a:lnTo>
                    <a:pt x="1598466" y="2022979"/>
                  </a:lnTo>
                  <a:lnTo>
                    <a:pt x="0" y="2022979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p/>
          </p:txBody>
        </p:sp>
      </p:grp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43867" y="6641137"/>
            <a:ext cx="3250801" cy="3375129"/>
            <a:chOff x="0" y="0"/>
            <a:chExt cx="7257986" cy="7535570"/>
          </a:xfrm>
        </p:grpSpPr>
        <p:sp>
          <p:nvSpPr>
            <p:cNvPr name="Freeform 3" id="3" descr="A cartoon of a lion holding two signs  AI-generated content may be incorrect."/>
            <p:cNvSpPr/>
            <p:nvPr/>
          </p:nvSpPr>
          <p:spPr>
            <a:xfrm flipH="false" flipV="false" rot="0">
              <a:off x="0" y="0"/>
              <a:ext cx="7257923" cy="7535545"/>
            </a:xfrm>
            <a:custGeom>
              <a:avLst/>
              <a:gdLst/>
              <a:ahLst/>
              <a:cxnLst/>
              <a:rect r="r" b="b" t="t" l="l"/>
              <a:pathLst>
                <a:path h="7535545" w="7257923">
                  <a:moveTo>
                    <a:pt x="0" y="0"/>
                  </a:moveTo>
                  <a:lnTo>
                    <a:pt x="7257923" y="0"/>
                  </a:lnTo>
                  <a:lnTo>
                    <a:pt x="7257923" y="7535545"/>
                  </a:lnTo>
                  <a:lnTo>
                    <a:pt x="0" y="7535545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p/>
          </p:txBody>
        </p:sp>
      </p:grpSp>
      <p:sp>
        <p:nvSpPr>
          <p:cNvPr name="Freeform 4" id="4"/>
          <p:cNvSpPr/>
          <p:nvPr/>
        </p:nvSpPr>
        <p:spPr>
          <a:xfrm flipH="false" flipV="false" rot="0">
            <a:off x="427166" y="270734"/>
            <a:ext cx="4789406" cy="9745532"/>
          </a:xfrm>
          <a:custGeom>
            <a:avLst/>
            <a:gdLst/>
            <a:ahLst/>
            <a:cxnLst/>
            <a:rect r="r" b="b" t="t" l="l"/>
            <a:pathLst>
              <a:path h="9745532" w="4789406">
                <a:moveTo>
                  <a:pt x="0" y="0"/>
                </a:moveTo>
                <a:lnTo>
                  <a:pt x="4789406" y="0"/>
                </a:lnTo>
                <a:lnTo>
                  <a:pt x="4789406" y="9745532"/>
                </a:lnTo>
                <a:lnTo>
                  <a:pt x="0" y="9745532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6435460" y="2955917"/>
            <a:ext cx="11351517" cy="3371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38400" indent="-609600" lvl="1">
              <a:lnSpc>
                <a:spcPts val="9000"/>
              </a:lnSpc>
              <a:buChar char="•"/>
            </a:pPr>
            <a:r>
              <a:rPr b="1" sz="6000">
                <a:solidFill>
                  <a:srgbClr val="000000"/>
                </a:solidFill>
                <a:latin typeface="Inter Bold"/>
              </a:rPr>
              <a:t>Parent Dashboard</a:t>
            </a:r>
          </a:p>
          <a:p>
            <a:pPr lvl="1" marL="2438400" indent="-609600" algn="l">
              <a:lnSpc>
                <a:spcPts val="9000"/>
              </a:lnSpc>
              <a:buChar char="•"/>
            </a:pPr>
            <a:r>
              <a:rPr b="1" sz="6000">
                <a:solidFill>
                  <a:srgbClr val="000000"/>
                </a:solidFill>
                <a:latin typeface="Inter Bold"/>
              </a:rPr>
              <a:t>Multilingual AI Support</a:t>
            </a:r>
          </a:p>
          <a:p>
            <a:pPr lvl="1" marL="2438400" indent="-609600" algn="l">
              <a:lnSpc>
                <a:spcPts val="9000"/>
              </a:lnSpc>
              <a:buChar char="•"/>
            </a:pPr>
            <a:r>
              <a:rPr b="1" sz="6000">
                <a:solidFill>
                  <a:srgbClr val="000000"/>
                </a:solidFill>
                <a:latin typeface="Inter Bold"/>
              </a:rPr>
              <a:t>24/7 Financial Chat Support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24548" y="1038225"/>
            <a:ext cx="9773340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lnSpc>
                <a:spcPts val="11999"/>
              </a:lnSpc>
              <a:buNone/>
            </a:pPr>
            <a:r>
              <a:rPr b="1" sz="9999">
                <a:solidFill>
                  <a:srgbClr val="FF6200"/>
                </a:solidFill>
                <a:latin typeface="Inter Bold"/>
              </a:rPr>
              <a:t>Additional Features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127631" y="8915871"/>
            <a:ext cx="2872042" cy="1179827"/>
            <a:chOff x="0" y="0"/>
            <a:chExt cx="3829389" cy="157310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1375992" y="0"/>
              <a:ext cx="2303019" cy="1573102"/>
              <a:chOff x="0" y="0"/>
              <a:chExt cx="852323" cy="58218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52323" cy="582188"/>
              </a:xfrm>
              <a:custGeom>
                <a:avLst/>
                <a:gdLst/>
                <a:ahLst/>
                <a:cxnLst/>
                <a:rect r="r" b="b" t="t" l="l"/>
                <a:pathLst>
                  <a:path h="582188" w="852323">
                    <a:moveTo>
                      <a:pt x="122008" y="0"/>
                    </a:moveTo>
                    <a:lnTo>
                      <a:pt x="730315" y="0"/>
                    </a:lnTo>
                    <a:cubicBezTo>
                      <a:pt x="762673" y="0"/>
                      <a:pt x="793706" y="12854"/>
                      <a:pt x="816587" y="35735"/>
                    </a:cubicBezTo>
                    <a:cubicBezTo>
                      <a:pt x="839468" y="58616"/>
                      <a:pt x="852323" y="89650"/>
                      <a:pt x="852323" y="122008"/>
                    </a:cubicBezTo>
                    <a:lnTo>
                      <a:pt x="852323" y="460180"/>
                    </a:lnTo>
                    <a:cubicBezTo>
                      <a:pt x="852323" y="492539"/>
                      <a:pt x="839468" y="523572"/>
                      <a:pt x="816587" y="546453"/>
                    </a:cubicBezTo>
                    <a:cubicBezTo>
                      <a:pt x="793706" y="569334"/>
                      <a:pt x="762673" y="582188"/>
                      <a:pt x="730315" y="582188"/>
                    </a:cubicBezTo>
                    <a:lnTo>
                      <a:pt x="122008" y="582188"/>
                    </a:lnTo>
                    <a:cubicBezTo>
                      <a:pt x="89650" y="582188"/>
                      <a:pt x="58616" y="569334"/>
                      <a:pt x="35735" y="546453"/>
                    </a:cubicBezTo>
                    <a:cubicBezTo>
                      <a:pt x="12854" y="523572"/>
                      <a:pt x="0" y="492539"/>
                      <a:pt x="0" y="460180"/>
                    </a:cubicBezTo>
                    <a:lnTo>
                      <a:pt x="0" y="122008"/>
                    </a:lnTo>
                    <a:cubicBezTo>
                      <a:pt x="0" y="89650"/>
                      <a:pt x="12854" y="58616"/>
                      <a:pt x="35735" y="35735"/>
                    </a:cubicBezTo>
                    <a:cubicBezTo>
                      <a:pt x="58616" y="12854"/>
                      <a:pt x="89650" y="0"/>
                      <a:pt x="122008" y="0"/>
                    </a:cubicBezTo>
                    <a:close/>
                  </a:path>
                </a:pathLst>
              </a:custGeom>
              <a:solidFill>
                <a:srgbClr val="FF6200"/>
              </a:solidFill>
            </p:spPr>
            <p:txBody>
              <a:bodyPr/>
              <a:p/>
            </p:txBody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852323" cy="6107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242993" y="127128"/>
              <a:ext cx="2586395" cy="13014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>
                <a:lnSpc>
                  <a:spcPts val="3842"/>
                </a:lnSpc>
                <a:buNone/>
              </a:pPr>
              <a:r>
                <a:rPr b="1" sz="3202">
                  <a:solidFill>
                    <a:srgbClr val="FFFFFF"/>
                  </a:solidFill>
                  <a:latin typeface="Inter Bold"/>
                </a:rPr>
                <a:t>junior mode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42993" cy="1573102"/>
            </a:xfrm>
            <a:custGeom>
              <a:avLst/>
              <a:gdLst/>
              <a:ahLst/>
              <a:cxnLst/>
              <a:rect r="r" b="b" t="t" l="l"/>
              <a:pathLst>
                <a:path h="1573102" w="1242993">
                  <a:moveTo>
                    <a:pt x="0" y="0"/>
                  </a:moveTo>
                  <a:lnTo>
                    <a:pt x="1242993" y="0"/>
                  </a:lnTo>
                  <a:lnTo>
                    <a:pt x="1242993" y="1573102"/>
                  </a:lnTo>
                  <a:lnTo>
                    <a:pt x="0" y="1573102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p/>
          </p:txBody>
        </p:sp>
      </p:grp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3361" y="2555462"/>
            <a:ext cx="4562343" cy="7084105"/>
            <a:chOff x="0" y="0"/>
            <a:chExt cx="6083124" cy="944547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867840" y="4837218"/>
              <a:ext cx="4314884" cy="2947328"/>
              <a:chOff x="0" y="0"/>
              <a:chExt cx="852323" cy="58218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52323" cy="582188"/>
              </a:xfrm>
              <a:custGeom>
                <a:avLst/>
                <a:gdLst/>
                <a:ahLst/>
                <a:cxnLst/>
                <a:rect r="r" b="b" t="t" l="l"/>
                <a:pathLst>
                  <a:path h="582188" w="852323">
                    <a:moveTo>
                      <a:pt x="122008" y="0"/>
                    </a:moveTo>
                    <a:lnTo>
                      <a:pt x="730315" y="0"/>
                    </a:lnTo>
                    <a:cubicBezTo>
                      <a:pt x="762673" y="0"/>
                      <a:pt x="793706" y="12854"/>
                      <a:pt x="816587" y="35735"/>
                    </a:cubicBezTo>
                    <a:cubicBezTo>
                      <a:pt x="839468" y="58616"/>
                      <a:pt x="852323" y="89650"/>
                      <a:pt x="852323" y="122008"/>
                    </a:cubicBezTo>
                    <a:lnTo>
                      <a:pt x="852323" y="460180"/>
                    </a:lnTo>
                    <a:cubicBezTo>
                      <a:pt x="852323" y="492539"/>
                      <a:pt x="839468" y="523572"/>
                      <a:pt x="816587" y="546453"/>
                    </a:cubicBezTo>
                    <a:cubicBezTo>
                      <a:pt x="793706" y="569334"/>
                      <a:pt x="762673" y="582188"/>
                      <a:pt x="730315" y="582188"/>
                    </a:cubicBezTo>
                    <a:lnTo>
                      <a:pt x="122008" y="582188"/>
                    </a:lnTo>
                    <a:cubicBezTo>
                      <a:pt x="89650" y="582188"/>
                      <a:pt x="58616" y="569334"/>
                      <a:pt x="35735" y="546453"/>
                    </a:cubicBezTo>
                    <a:cubicBezTo>
                      <a:pt x="12854" y="523572"/>
                      <a:pt x="0" y="492539"/>
                      <a:pt x="0" y="460180"/>
                    </a:cubicBezTo>
                    <a:lnTo>
                      <a:pt x="0" y="122008"/>
                    </a:lnTo>
                    <a:cubicBezTo>
                      <a:pt x="0" y="89650"/>
                      <a:pt x="12854" y="58616"/>
                      <a:pt x="35735" y="35735"/>
                    </a:cubicBezTo>
                    <a:cubicBezTo>
                      <a:pt x="58616" y="12854"/>
                      <a:pt x="89650" y="0"/>
                      <a:pt x="122008" y="0"/>
                    </a:cubicBezTo>
                    <a:close/>
                  </a:path>
                </a:pathLst>
              </a:custGeom>
              <a:solidFill>
                <a:srgbClr val="FF6200"/>
              </a:solidFill>
            </p:spPr>
            <p:txBody>
              <a:bodyPr/>
              <a:p/>
            </p:txBody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852323" cy="6107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618656" y="5075402"/>
              <a:ext cx="4845812" cy="2438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00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8226273"/>
              <a:ext cx="6083124" cy="1219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00"/>
                </a:lnSpc>
              </a:pP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1194736" y="0"/>
              <a:ext cx="3693652" cy="4674596"/>
            </a:xfrm>
            <a:custGeom>
              <a:avLst/>
              <a:gdLst/>
              <a:ahLst/>
              <a:cxnLst/>
              <a:rect r="r" b="b" t="t" l="l"/>
              <a:pathLst>
                <a:path h="4674596" w="3693652">
                  <a:moveTo>
                    <a:pt x="0" y="0"/>
                  </a:moveTo>
                  <a:lnTo>
                    <a:pt x="3693652" y="0"/>
                  </a:lnTo>
                  <a:lnTo>
                    <a:pt x="3693652" y="4674596"/>
                  </a:lnTo>
                  <a:lnTo>
                    <a:pt x="0" y="4674596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13220752" y="2471686"/>
            <a:ext cx="4562343" cy="7251656"/>
            <a:chOff x="0" y="0"/>
            <a:chExt cx="6083124" cy="966887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867840" y="5060620"/>
              <a:ext cx="4314884" cy="2947328"/>
              <a:chOff x="0" y="0"/>
              <a:chExt cx="852323" cy="58218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52323" cy="582188"/>
              </a:xfrm>
              <a:custGeom>
                <a:avLst/>
                <a:gdLst/>
                <a:ahLst/>
                <a:cxnLst/>
                <a:rect r="r" b="b" t="t" l="l"/>
                <a:pathLst>
                  <a:path h="582188" w="852323">
                    <a:moveTo>
                      <a:pt x="122008" y="0"/>
                    </a:moveTo>
                    <a:lnTo>
                      <a:pt x="730315" y="0"/>
                    </a:lnTo>
                    <a:cubicBezTo>
                      <a:pt x="762673" y="0"/>
                      <a:pt x="793706" y="12854"/>
                      <a:pt x="816587" y="35735"/>
                    </a:cubicBezTo>
                    <a:cubicBezTo>
                      <a:pt x="839468" y="58616"/>
                      <a:pt x="852323" y="89650"/>
                      <a:pt x="852323" y="122008"/>
                    </a:cubicBezTo>
                    <a:lnTo>
                      <a:pt x="852323" y="460180"/>
                    </a:lnTo>
                    <a:cubicBezTo>
                      <a:pt x="852323" y="492539"/>
                      <a:pt x="839468" y="523572"/>
                      <a:pt x="816587" y="546453"/>
                    </a:cubicBezTo>
                    <a:cubicBezTo>
                      <a:pt x="793706" y="569334"/>
                      <a:pt x="762673" y="582188"/>
                      <a:pt x="730315" y="582188"/>
                    </a:cubicBezTo>
                    <a:lnTo>
                      <a:pt x="122008" y="582188"/>
                    </a:lnTo>
                    <a:cubicBezTo>
                      <a:pt x="89650" y="582188"/>
                      <a:pt x="58616" y="569334"/>
                      <a:pt x="35735" y="546453"/>
                    </a:cubicBezTo>
                    <a:cubicBezTo>
                      <a:pt x="12854" y="523572"/>
                      <a:pt x="0" y="492539"/>
                      <a:pt x="0" y="460180"/>
                    </a:cubicBezTo>
                    <a:lnTo>
                      <a:pt x="0" y="122008"/>
                    </a:lnTo>
                    <a:cubicBezTo>
                      <a:pt x="0" y="89650"/>
                      <a:pt x="12854" y="58616"/>
                      <a:pt x="35735" y="35735"/>
                    </a:cubicBezTo>
                    <a:cubicBezTo>
                      <a:pt x="58616" y="12854"/>
                      <a:pt x="89650" y="0"/>
                      <a:pt x="122008" y="0"/>
                    </a:cubicBezTo>
                    <a:close/>
                  </a:path>
                </a:pathLst>
              </a:custGeom>
              <a:solidFill>
                <a:srgbClr val="FF6200"/>
              </a:solidFill>
            </p:spPr>
            <p:txBody>
              <a:bodyPr/>
              <a:p/>
            </p:txBody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852323" cy="6107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618656" y="5298804"/>
              <a:ext cx="4845812" cy="2438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00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8449675"/>
              <a:ext cx="6083124" cy="1219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00"/>
                </a:lnSpc>
              </a:pP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1017576" y="0"/>
              <a:ext cx="4047971" cy="4897998"/>
            </a:xfrm>
            <a:custGeom>
              <a:avLst/>
              <a:gdLst/>
              <a:ahLst/>
              <a:cxnLst/>
              <a:rect r="r" b="b" t="t" l="l"/>
              <a:pathLst>
                <a:path h="4897998" w="4047971">
                  <a:moveTo>
                    <a:pt x="0" y="0"/>
                  </a:moveTo>
                  <a:lnTo>
                    <a:pt x="4047972" y="0"/>
                  </a:lnTo>
                  <a:lnTo>
                    <a:pt x="4047972" y="4897998"/>
                  </a:lnTo>
                  <a:lnTo>
                    <a:pt x="0" y="489799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p/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246134" y="1941227"/>
            <a:ext cx="3795732" cy="7317073"/>
          </a:xfrm>
          <a:custGeom>
            <a:avLst/>
            <a:gdLst/>
            <a:ahLst/>
            <a:cxnLst/>
            <a:rect r="r" b="b" t="t" l="l"/>
            <a:pathLst>
              <a:path h="7317073" w="3795732">
                <a:moveTo>
                  <a:pt x="0" y="0"/>
                </a:moveTo>
                <a:lnTo>
                  <a:pt x="3795732" y="0"/>
                </a:lnTo>
                <a:lnTo>
                  <a:pt x="3795732" y="7317073"/>
                </a:lnTo>
                <a:lnTo>
                  <a:pt x="0" y="7317073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p/>
        </p:txBody>
      </p:sp>
      <p:grpSp>
        <p:nvGrpSpPr>
          <p:cNvPr name="Group 17" id="17"/>
          <p:cNvGrpSpPr/>
          <p:nvPr/>
        </p:nvGrpSpPr>
        <p:grpSpPr>
          <a:xfrm rot="0">
            <a:off x="4772797" y="6649276"/>
            <a:ext cx="8934309" cy="1407014"/>
            <a:chOff x="0" y="0"/>
            <a:chExt cx="3435106" cy="5409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35106" cy="540976"/>
            </a:xfrm>
            <a:custGeom>
              <a:avLst/>
              <a:gdLst/>
              <a:ahLst/>
              <a:cxnLst/>
              <a:rect r="r" b="b" t="t" l="l"/>
              <a:pathLst>
                <a:path h="540976" w="3435106">
                  <a:moveTo>
                    <a:pt x="3435106" y="270488"/>
                  </a:moveTo>
                  <a:lnTo>
                    <a:pt x="3028706" y="0"/>
                  </a:lnTo>
                  <a:lnTo>
                    <a:pt x="3028706" y="203200"/>
                  </a:lnTo>
                  <a:lnTo>
                    <a:pt x="0" y="203200"/>
                  </a:lnTo>
                  <a:lnTo>
                    <a:pt x="0" y="337776"/>
                  </a:lnTo>
                  <a:lnTo>
                    <a:pt x="3028706" y="337776"/>
                  </a:lnTo>
                  <a:lnTo>
                    <a:pt x="3028706" y="540976"/>
                  </a:lnTo>
                  <a:lnTo>
                    <a:pt x="3435106" y="270488"/>
                  </a:lnTo>
                  <a:close/>
                </a:path>
              </a:pathLst>
            </a:custGeom>
            <a:gradFill rotWithShape="true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0"/>
            </a:grad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203200"/>
              <a:ext cx="3333506" cy="134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655700" y="280987"/>
            <a:ext cx="14976601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79185" y="386499"/>
            <a:ext cx="5985686" cy="9514001"/>
            <a:chOff x="0" y="0"/>
            <a:chExt cx="7980915" cy="1268533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138585" y="6639413"/>
              <a:ext cx="5661025" cy="3866825"/>
              <a:chOff x="0" y="0"/>
              <a:chExt cx="852323" cy="58218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52323" cy="582188"/>
              </a:xfrm>
              <a:custGeom>
                <a:avLst/>
                <a:gdLst/>
                <a:ahLst/>
                <a:cxnLst/>
                <a:rect r="r" b="b" t="t" l="l"/>
                <a:pathLst>
                  <a:path h="582188" w="852323">
                    <a:moveTo>
                      <a:pt x="122008" y="0"/>
                    </a:moveTo>
                    <a:lnTo>
                      <a:pt x="730315" y="0"/>
                    </a:lnTo>
                    <a:cubicBezTo>
                      <a:pt x="762673" y="0"/>
                      <a:pt x="793706" y="12854"/>
                      <a:pt x="816587" y="35735"/>
                    </a:cubicBezTo>
                    <a:cubicBezTo>
                      <a:pt x="839468" y="58616"/>
                      <a:pt x="852323" y="89650"/>
                      <a:pt x="852323" y="122008"/>
                    </a:cubicBezTo>
                    <a:lnTo>
                      <a:pt x="852323" y="460180"/>
                    </a:lnTo>
                    <a:cubicBezTo>
                      <a:pt x="852323" y="492539"/>
                      <a:pt x="839468" y="523572"/>
                      <a:pt x="816587" y="546453"/>
                    </a:cubicBezTo>
                    <a:cubicBezTo>
                      <a:pt x="793706" y="569334"/>
                      <a:pt x="762673" y="582188"/>
                      <a:pt x="730315" y="582188"/>
                    </a:cubicBezTo>
                    <a:lnTo>
                      <a:pt x="122008" y="582188"/>
                    </a:lnTo>
                    <a:cubicBezTo>
                      <a:pt x="89650" y="582188"/>
                      <a:pt x="58616" y="569334"/>
                      <a:pt x="35735" y="546453"/>
                    </a:cubicBezTo>
                    <a:cubicBezTo>
                      <a:pt x="12854" y="523572"/>
                      <a:pt x="0" y="492539"/>
                      <a:pt x="0" y="460180"/>
                    </a:cubicBezTo>
                    <a:lnTo>
                      <a:pt x="0" y="122008"/>
                    </a:lnTo>
                    <a:cubicBezTo>
                      <a:pt x="0" y="89650"/>
                      <a:pt x="12854" y="58616"/>
                      <a:pt x="35735" y="35735"/>
                    </a:cubicBezTo>
                    <a:cubicBezTo>
                      <a:pt x="58616" y="12854"/>
                      <a:pt x="89650" y="0"/>
                      <a:pt x="122008" y="0"/>
                    </a:cubicBezTo>
                    <a:close/>
                  </a:path>
                </a:pathLst>
              </a:custGeom>
              <a:solidFill>
                <a:srgbClr val="FF6200"/>
              </a:solidFill>
            </p:spPr>
            <p:txBody>
              <a:bodyPr/>
              <a:p/>
            </p:txBody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852323" cy="6107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811662" y="6951905"/>
              <a:ext cx="6357591" cy="3199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446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085774"/>
              <a:ext cx="7980915" cy="15995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446"/>
                </a:lnSpc>
              </a:pP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1335036" y="0"/>
              <a:ext cx="5310842" cy="6426057"/>
            </a:xfrm>
            <a:custGeom>
              <a:avLst/>
              <a:gdLst/>
              <a:ahLst/>
              <a:cxnLst/>
              <a:rect r="r" b="b" t="t" l="l"/>
              <a:pathLst>
                <a:path h="6426057" w="5310842">
                  <a:moveTo>
                    <a:pt x="0" y="0"/>
                  </a:moveTo>
                  <a:lnTo>
                    <a:pt x="5310843" y="0"/>
                  </a:lnTo>
                  <a:lnTo>
                    <a:pt x="5310843" y="6426057"/>
                  </a:lnTo>
                  <a:lnTo>
                    <a:pt x="0" y="6426057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p/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824843" y="133408"/>
            <a:ext cx="4897365" cy="10020184"/>
          </a:xfrm>
          <a:custGeom>
            <a:avLst/>
            <a:gdLst/>
            <a:ahLst/>
            <a:cxnLst/>
            <a:rect r="r" b="b" t="t" l="l"/>
            <a:pathLst>
              <a:path h="10020184" w="4897365">
                <a:moveTo>
                  <a:pt x="0" y="0"/>
                </a:moveTo>
                <a:lnTo>
                  <a:pt x="4897365" y="0"/>
                </a:lnTo>
                <a:lnTo>
                  <a:pt x="4897365" y="10020184"/>
                </a:lnTo>
                <a:lnTo>
                  <a:pt x="0" y="10020184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p/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97074" y="8607337"/>
            <a:ext cx="3511807" cy="1459486"/>
            <a:chOff x="0" y="0"/>
            <a:chExt cx="4682409" cy="194598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647472" y="0"/>
              <a:ext cx="2848914" cy="1945982"/>
              <a:chOff x="0" y="0"/>
              <a:chExt cx="852323" cy="58218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52323" cy="582188"/>
              </a:xfrm>
              <a:custGeom>
                <a:avLst/>
                <a:gdLst/>
                <a:ahLst/>
                <a:cxnLst/>
                <a:rect r="r" b="b" t="t" l="l"/>
                <a:pathLst>
                  <a:path h="582188" w="852323">
                    <a:moveTo>
                      <a:pt x="92996" y="0"/>
                    </a:moveTo>
                    <a:lnTo>
                      <a:pt x="759327" y="0"/>
                    </a:lnTo>
                    <a:cubicBezTo>
                      <a:pt x="810687" y="0"/>
                      <a:pt x="852323" y="41636"/>
                      <a:pt x="852323" y="92996"/>
                    </a:cubicBezTo>
                    <a:lnTo>
                      <a:pt x="852323" y="489193"/>
                    </a:lnTo>
                    <a:cubicBezTo>
                      <a:pt x="852323" y="513857"/>
                      <a:pt x="842525" y="537511"/>
                      <a:pt x="825085" y="554951"/>
                    </a:cubicBezTo>
                    <a:cubicBezTo>
                      <a:pt x="807645" y="572391"/>
                      <a:pt x="783991" y="582188"/>
                      <a:pt x="759327" y="582188"/>
                    </a:cubicBezTo>
                    <a:lnTo>
                      <a:pt x="92996" y="582188"/>
                    </a:lnTo>
                    <a:cubicBezTo>
                      <a:pt x="41636" y="582188"/>
                      <a:pt x="0" y="540553"/>
                      <a:pt x="0" y="489193"/>
                    </a:cubicBezTo>
                    <a:lnTo>
                      <a:pt x="0" y="92996"/>
                    </a:lnTo>
                    <a:cubicBezTo>
                      <a:pt x="0" y="41636"/>
                      <a:pt x="41636" y="0"/>
                      <a:pt x="92996" y="0"/>
                    </a:cubicBezTo>
                    <a:close/>
                  </a:path>
                </a:pathLst>
              </a:custGeom>
              <a:solidFill>
                <a:srgbClr val="FF6200"/>
              </a:solidFill>
            </p:spPr>
            <p:txBody>
              <a:bodyPr/>
              <a:p/>
            </p:txBody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852323" cy="610763"/>
              </a:xfrm>
              <a:prstGeom prst="rect">
                <a:avLst/>
              </a:prstGeom>
            </p:spPr>
            <p:txBody>
              <a:bodyPr anchor="ctr" rtlCol="false" tIns="66648" lIns="66648" bIns="66648" rIns="6664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1482948" y="157262"/>
              <a:ext cx="3199461" cy="1609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>
                <a:lnSpc>
                  <a:spcPts val="4753"/>
                </a:lnSpc>
                <a:buNone/>
              </a:pPr>
              <a:r>
                <a:rPr b="1" sz="3961">
                  <a:solidFill>
                    <a:srgbClr val="FFFFFF"/>
                  </a:solidFill>
                  <a:latin typeface="Inter Bold"/>
                </a:rPr>
                <a:t>adult mode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8265" cy="1945982"/>
            </a:xfrm>
            <a:custGeom>
              <a:avLst/>
              <a:gdLst/>
              <a:ahLst/>
              <a:cxnLst/>
              <a:rect r="r" b="b" t="t" l="l"/>
              <a:pathLst>
                <a:path h="1945982" w="1608265">
                  <a:moveTo>
                    <a:pt x="0" y="0"/>
                  </a:moveTo>
                  <a:lnTo>
                    <a:pt x="1608265" y="0"/>
                  </a:lnTo>
                  <a:lnTo>
                    <a:pt x="1608265" y="1945982"/>
                  </a:lnTo>
                  <a:lnTo>
                    <a:pt x="0" y="1945982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p/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15600" y="196474"/>
            <a:ext cx="4848086" cy="9894053"/>
          </a:xfrm>
          <a:custGeom>
            <a:avLst/>
            <a:gdLst/>
            <a:ahLst/>
            <a:cxnLst/>
            <a:rect r="r" b="b" t="t" l="l"/>
            <a:pathLst>
              <a:path h="9894053" w="4848086">
                <a:moveTo>
                  <a:pt x="0" y="0"/>
                </a:moveTo>
                <a:lnTo>
                  <a:pt x="4848086" y="0"/>
                </a:lnTo>
                <a:lnTo>
                  <a:pt x="4848086" y="9894052"/>
                </a:lnTo>
                <a:lnTo>
                  <a:pt x="0" y="9894052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5362874" y="4076430"/>
            <a:ext cx="12610255" cy="2038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463040" indent="-365760" lvl="1">
              <a:lnSpc>
                <a:spcPts val="5000"/>
              </a:lnSpc>
              <a:buChar char="•"/>
            </a:pPr>
            <a:r>
              <a:rPr b="1" sz="3600">
                <a:solidFill>
                  <a:srgbClr val="000000"/>
                </a:solidFill>
                <a:latin typeface="Inter Bold"/>
              </a:rPr>
              <a:t>AI transaction categorization</a:t>
            </a:r>
          </a:p>
          <a:p>
            <a:pPr lvl="1" marL="1463040" indent="-365760" algn="l">
              <a:lnSpc>
                <a:spcPts val="5000"/>
              </a:lnSpc>
              <a:buChar char="•"/>
            </a:pPr>
            <a:r>
              <a:rPr b="1" sz="3600">
                <a:solidFill>
                  <a:srgbClr val="000000"/>
                </a:solidFill>
                <a:latin typeface="Inter Bold"/>
              </a:rPr>
              <a:t>subscription monitoring</a:t>
            </a:r>
          </a:p>
          <a:p>
            <a:pPr lvl="1" marL="1463040" indent="-365760" algn="l">
              <a:lnSpc>
                <a:spcPts val="5000"/>
              </a:lnSpc>
              <a:buChar char="•"/>
            </a:pPr>
            <a:r>
              <a:rPr b="1" sz="3600">
                <a:solidFill>
                  <a:srgbClr val="FF6200"/>
                </a:solidFill>
                <a:latin typeface="Inter Bold"/>
              </a:rPr>
              <a:t>LIVE DEMO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36331" y="696248"/>
            <a:ext cx="12663341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lnSpc>
                <a:spcPts val="11999"/>
              </a:lnSpc>
              <a:buNone/>
            </a:pPr>
            <a:r>
              <a:rPr b="1" sz="9999">
                <a:solidFill>
                  <a:srgbClr val="FF6200"/>
                </a:solidFill>
                <a:latin typeface="Inter Bold"/>
              </a:rPr>
              <a:t>Smart Banking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15540" y="8864368"/>
            <a:ext cx="2893340" cy="1202456"/>
            <a:chOff x="0" y="0"/>
            <a:chExt cx="3857787" cy="160327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357335" y="0"/>
              <a:ext cx="2347190" cy="1603274"/>
              <a:chOff x="0" y="0"/>
              <a:chExt cx="852323" cy="58218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52323" cy="582188"/>
              </a:xfrm>
              <a:custGeom>
                <a:avLst/>
                <a:gdLst/>
                <a:ahLst/>
                <a:cxnLst/>
                <a:rect r="r" b="b" t="t" l="l"/>
                <a:pathLst>
                  <a:path h="582188" w="852323">
                    <a:moveTo>
                      <a:pt x="92996" y="0"/>
                    </a:moveTo>
                    <a:lnTo>
                      <a:pt x="759327" y="0"/>
                    </a:lnTo>
                    <a:cubicBezTo>
                      <a:pt x="810687" y="0"/>
                      <a:pt x="852323" y="41636"/>
                      <a:pt x="852323" y="92996"/>
                    </a:cubicBezTo>
                    <a:lnTo>
                      <a:pt x="852323" y="489193"/>
                    </a:lnTo>
                    <a:cubicBezTo>
                      <a:pt x="852323" y="513857"/>
                      <a:pt x="842525" y="537511"/>
                      <a:pt x="825085" y="554951"/>
                    </a:cubicBezTo>
                    <a:cubicBezTo>
                      <a:pt x="807645" y="572391"/>
                      <a:pt x="783991" y="582188"/>
                      <a:pt x="759327" y="582188"/>
                    </a:cubicBezTo>
                    <a:lnTo>
                      <a:pt x="92996" y="582188"/>
                    </a:lnTo>
                    <a:cubicBezTo>
                      <a:pt x="41636" y="582188"/>
                      <a:pt x="0" y="540553"/>
                      <a:pt x="0" y="489193"/>
                    </a:cubicBezTo>
                    <a:lnTo>
                      <a:pt x="0" y="92996"/>
                    </a:lnTo>
                    <a:cubicBezTo>
                      <a:pt x="0" y="41636"/>
                      <a:pt x="41636" y="0"/>
                      <a:pt x="92996" y="0"/>
                    </a:cubicBezTo>
                    <a:close/>
                  </a:path>
                </a:pathLst>
              </a:custGeom>
              <a:solidFill>
                <a:srgbClr val="FF6200"/>
              </a:solidFill>
            </p:spPr>
            <p:txBody>
              <a:bodyPr/>
              <a:p/>
            </p:txBody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852323" cy="610763"/>
              </a:xfrm>
              <a:prstGeom prst="rect">
                <a:avLst/>
              </a:prstGeom>
            </p:spPr>
            <p:txBody>
              <a:bodyPr anchor="ctr" rtlCol="false" tIns="66648" lIns="66648" bIns="66648" rIns="6664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1221785" y="120041"/>
              <a:ext cx="2636002" cy="13359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>
                <a:lnSpc>
                  <a:spcPts val="3915"/>
                </a:lnSpc>
                <a:buNone/>
              </a:pPr>
              <a:r>
                <a:rPr b="1" sz="3263">
                  <a:solidFill>
                    <a:srgbClr val="FFFFFF"/>
                  </a:solidFill>
                  <a:latin typeface="Inter Bold"/>
                </a:rPr>
                <a:t>adult mode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25033" cy="1603274"/>
            </a:xfrm>
            <a:custGeom>
              <a:avLst/>
              <a:gdLst/>
              <a:ahLst/>
              <a:cxnLst/>
              <a:rect r="r" b="b" t="t" l="l"/>
              <a:pathLst>
                <a:path h="1603274" w="1325033">
                  <a:moveTo>
                    <a:pt x="0" y="0"/>
                  </a:moveTo>
                  <a:lnTo>
                    <a:pt x="1325033" y="0"/>
                  </a:lnTo>
                  <a:lnTo>
                    <a:pt x="1325033" y="1603274"/>
                  </a:lnTo>
                  <a:lnTo>
                    <a:pt x="0" y="1603274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p/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57384" y="426241"/>
            <a:ext cx="4856443" cy="9640583"/>
          </a:xfrm>
          <a:custGeom>
            <a:avLst/>
            <a:gdLst/>
            <a:ahLst/>
            <a:cxnLst/>
            <a:rect r="r" b="b" t="t" l="l"/>
            <a:pathLst>
              <a:path h="9640583" w="4856443">
                <a:moveTo>
                  <a:pt x="0" y="0"/>
                </a:moveTo>
                <a:lnTo>
                  <a:pt x="4856443" y="0"/>
                </a:lnTo>
                <a:lnTo>
                  <a:pt x="4856443" y="9640583"/>
                </a:lnTo>
                <a:lnTo>
                  <a:pt x="0" y="9640583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4342888" y="2550793"/>
            <a:ext cx="3301264" cy="5999445"/>
          </a:xfrm>
          <a:custGeom>
            <a:avLst/>
            <a:gdLst/>
            <a:ahLst/>
            <a:cxnLst/>
            <a:rect r="r" b="b" t="t" l="l"/>
            <a:pathLst>
              <a:path h="5999445" w="3301264">
                <a:moveTo>
                  <a:pt x="0" y="0"/>
                </a:moveTo>
                <a:lnTo>
                  <a:pt x="3301264" y="0"/>
                </a:lnTo>
                <a:lnTo>
                  <a:pt x="3301264" y="5999445"/>
                </a:lnTo>
                <a:lnTo>
                  <a:pt x="0" y="5999445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5362874" y="3732028"/>
            <a:ext cx="9473335" cy="3421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50720" indent="-487680" lvl="1">
              <a:lnSpc>
                <a:spcPts val="6600"/>
              </a:lnSpc>
              <a:buChar char="•"/>
            </a:pPr>
            <a:r>
              <a:rPr b="1" sz="4800">
                <a:solidFill>
                  <a:srgbClr val="000000"/>
                </a:solidFill>
                <a:latin typeface="Inter Bold"/>
              </a:rPr>
              <a:t>send money via chat</a:t>
            </a:r>
          </a:p>
          <a:p>
            <a:pPr lvl="1" marL="1950720" indent="-487680" algn="l">
              <a:lnSpc>
                <a:spcPts val="6600"/>
              </a:lnSpc>
              <a:buChar char="•"/>
            </a:pPr>
            <a:r>
              <a:rPr b="1" sz="4800">
                <a:solidFill>
                  <a:srgbClr val="000000"/>
                </a:solidFill>
                <a:latin typeface="Inter Bold"/>
              </a:rPr>
              <a:t>spending analysis in chat</a:t>
            </a:r>
          </a:p>
          <a:p>
            <a:pPr lvl="1" marL="1950720" indent="-487680" algn="l">
              <a:lnSpc>
                <a:spcPts val="6600"/>
              </a:lnSpc>
              <a:buChar char="•"/>
            </a:pPr>
            <a:r>
              <a:rPr b="1" sz="4800">
                <a:solidFill>
                  <a:srgbClr val="FF6200"/>
                </a:solidFill>
                <a:latin typeface="Inter Bold"/>
              </a:rPr>
              <a:t>LIVE DEMO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30178" y="721993"/>
            <a:ext cx="12663341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lnSpc>
                <a:spcPts val="11999"/>
              </a:lnSpc>
              <a:buNone/>
            </a:pPr>
            <a:r>
              <a:rPr b="1" sz="9999">
                <a:solidFill>
                  <a:srgbClr val="FF6200"/>
                </a:solidFill>
                <a:latin typeface="Inter Bold"/>
              </a:rPr>
              <a:t>AI Chat &amp; Widgets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97074" y="8607337"/>
            <a:ext cx="3511807" cy="1459486"/>
            <a:chOff x="0" y="0"/>
            <a:chExt cx="4682409" cy="194598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647472" y="0"/>
              <a:ext cx="2848914" cy="1945982"/>
              <a:chOff x="0" y="0"/>
              <a:chExt cx="852323" cy="58218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52323" cy="582188"/>
              </a:xfrm>
              <a:custGeom>
                <a:avLst/>
                <a:gdLst/>
                <a:ahLst/>
                <a:cxnLst/>
                <a:rect r="r" b="b" t="t" l="l"/>
                <a:pathLst>
                  <a:path h="582188" w="852323">
                    <a:moveTo>
                      <a:pt x="92996" y="0"/>
                    </a:moveTo>
                    <a:lnTo>
                      <a:pt x="759327" y="0"/>
                    </a:lnTo>
                    <a:cubicBezTo>
                      <a:pt x="810687" y="0"/>
                      <a:pt x="852323" y="41636"/>
                      <a:pt x="852323" y="92996"/>
                    </a:cubicBezTo>
                    <a:lnTo>
                      <a:pt x="852323" y="489193"/>
                    </a:lnTo>
                    <a:cubicBezTo>
                      <a:pt x="852323" y="513857"/>
                      <a:pt x="842525" y="537511"/>
                      <a:pt x="825085" y="554951"/>
                    </a:cubicBezTo>
                    <a:cubicBezTo>
                      <a:pt x="807645" y="572391"/>
                      <a:pt x="783991" y="582188"/>
                      <a:pt x="759327" y="582188"/>
                    </a:cubicBezTo>
                    <a:lnTo>
                      <a:pt x="92996" y="582188"/>
                    </a:lnTo>
                    <a:cubicBezTo>
                      <a:pt x="41636" y="582188"/>
                      <a:pt x="0" y="540553"/>
                      <a:pt x="0" y="489193"/>
                    </a:cubicBezTo>
                    <a:lnTo>
                      <a:pt x="0" y="92996"/>
                    </a:lnTo>
                    <a:cubicBezTo>
                      <a:pt x="0" y="41636"/>
                      <a:pt x="41636" y="0"/>
                      <a:pt x="92996" y="0"/>
                    </a:cubicBezTo>
                    <a:close/>
                  </a:path>
                </a:pathLst>
              </a:custGeom>
              <a:solidFill>
                <a:srgbClr val="FF6200"/>
              </a:solidFill>
            </p:spPr>
            <p:txBody>
              <a:bodyPr/>
              <a:p/>
            </p:txBody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852323" cy="610763"/>
              </a:xfrm>
              <a:prstGeom prst="rect">
                <a:avLst/>
              </a:prstGeom>
            </p:spPr>
            <p:txBody>
              <a:bodyPr anchor="ctr" rtlCol="false" tIns="66648" lIns="66648" bIns="66648" rIns="6664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1482948" y="157262"/>
              <a:ext cx="3199461" cy="1609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>
                <a:lnSpc>
                  <a:spcPts val="4753"/>
                </a:lnSpc>
                <a:buNone/>
              </a:pPr>
              <a:r>
                <a:rPr b="1" sz="3961">
                  <a:solidFill>
                    <a:srgbClr val="FFFFFF"/>
                  </a:solidFill>
                  <a:latin typeface="Inter Bold"/>
                </a:rPr>
                <a:t>adult mode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8265" cy="1945982"/>
            </a:xfrm>
            <a:custGeom>
              <a:avLst/>
              <a:gdLst/>
              <a:ahLst/>
              <a:cxnLst/>
              <a:rect r="r" b="b" t="t" l="l"/>
              <a:pathLst>
                <a:path h="1945982" w="1608265">
                  <a:moveTo>
                    <a:pt x="0" y="0"/>
                  </a:moveTo>
                  <a:lnTo>
                    <a:pt x="1608265" y="0"/>
                  </a:lnTo>
                  <a:lnTo>
                    <a:pt x="1608265" y="1945982"/>
                  </a:lnTo>
                  <a:lnTo>
                    <a:pt x="0" y="1945982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p/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76036" y="171332"/>
            <a:ext cx="4860295" cy="9944337"/>
          </a:xfrm>
          <a:custGeom>
            <a:avLst/>
            <a:gdLst/>
            <a:ahLst/>
            <a:cxnLst/>
            <a:rect r="r" b="b" t="t" l="l"/>
            <a:pathLst>
              <a:path h="9944337" w="4860295">
                <a:moveTo>
                  <a:pt x="0" y="0"/>
                </a:moveTo>
                <a:lnTo>
                  <a:pt x="4860295" y="0"/>
                </a:lnTo>
                <a:lnTo>
                  <a:pt x="4860295" y="9944336"/>
                </a:lnTo>
                <a:lnTo>
                  <a:pt x="0" y="9944336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5928043" y="4076430"/>
            <a:ext cx="11479917" cy="2038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463040" indent="-365760" lvl="1">
              <a:lnSpc>
                <a:spcPts val="5000"/>
              </a:lnSpc>
              <a:buChar char="•"/>
            </a:pPr>
            <a:r>
              <a:rPr b="1" sz="3600">
                <a:solidFill>
                  <a:srgbClr val="000000"/>
                </a:solidFill>
                <a:latin typeface="Inter Bold"/>
              </a:rPr>
              <a:t>AI-powered portfolio insights</a:t>
            </a:r>
          </a:p>
          <a:p>
            <a:pPr lvl="1" marL="1463040" indent="-365760" algn="l">
              <a:lnSpc>
                <a:spcPts val="5000"/>
              </a:lnSpc>
              <a:buChar char="•"/>
            </a:pPr>
            <a:r>
              <a:rPr b="1" sz="3600">
                <a:solidFill>
                  <a:srgbClr val="000000"/>
                </a:solidFill>
                <a:latin typeface="Inter Bold"/>
              </a:rPr>
              <a:t>real-time market analysis</a:t>
            </a:r>
          </a:p>
          <a:p>
            <a:pPr lvl="1" marL="1463040" indent="-365760" algn="l">
              <a:lnSpc>
                <a:spcPts val="5000"/>
              </a:lnSpc>
              <a:buChar char="•"/>
            </a:pPr>
            <a:r>
              <a:rPr b="1" sz="3600">
                <a:solidFill>
                  <a:srgbClr val="FF6200"/>
                </a:solidFill>
                <a:latin typeface="Inter Bold"/>
              </a:rPr>
              <a:t>LIVE DEMO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36331" y="696248"/>
            <a:ext cx="12663341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lnSpc>
                <a:spcPts val="11999"/>
              </a:lnSpc>
              <a:buNone/>
            </a:pPr>
            <a:r>
              <a:rPr b="1" sz="9999">
                <a:solidFill>
                  <a:srgbClr val="FF6200"/>
                </a:solidFill>
                <a:latin typeface="Inter Bold"/>
              </a:rPr>
              <a:t>Portfolio Analysis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2973" y="339577"/>
            <a:ext cx="4635785" cy="9607845"/>
          </a:xfrm>
          <a:custGeom>
            <a:avLst/>
            <a:gdLst/>
            <a:ahLst/>
            <a:cxnLst/>
            <a:rect r="r" b="b" t="t" l="l"/>
            <a:pathLst>
              <a:path h="9607845" w="4635785">
                <a:moveTo>
                  <a:pt x="0" y="0"/>
                </a:moveTo>
                <a:lnTo>
                  <a:pt x="4635785" y="0"/>
                </a:lnTo>
                <a:lnTo>
                  <a:pt x="4635785" y="9607846"/>
                </a:lnTo>
                <a:lnTo>
                  <a:pt x="0" y="9607846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14397074" y="8607337"/>
            <a:ext cx="3511807" cy="1459486"/>
            <a:chOff x="0" y="0"/>
            <a:chExt cx="4682409" cy="194598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1647472" y="0"/>
              <a:ext cx="2848914" cy="1945982"/>
              <a:chOff x="0" y="0"/>
              <a:chExt cx="852323" cy="582188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52323" cy="582188"/>
              </a:xfrm>
              <a:custGeom>
                <a:avLst/>
                <a:gdLst/>
                <a:ahLst/>
                <a:cxnLst/>
                <a:rect r="r" b="b" t="t" l="l"/>
                <a:pathLst>
                  <a:path h="582188" w="852323">
                    <a:moveTo>
                      <a:pt x="92996" y="0"/>
                    </a:moveTo>
                    <a:lnTo>
                      <a:pt x="759327" y="0"/>
                    </a:lnTo>
                    <a:cubicBezTo>
                      <a:pt x="810687" y="0"/>
                      <a:pt x="852323" y="41636"/>
                      <a:pt x="852323" y="92996"/>
                    </a:cubicBezTo>
                    <a:lnTo>
                      <a:pt x="852323" y="489193"/>
                    </a:lnTo>
                    <a:cubicBezTo>
                      <a:pt x="852323" y="513857"/>
                      <a:pt x="842525" y="537511"/>
                      <a:pt x="825085" y="554951"/>
                    </a:cubicBezTo>
                    <a:cubicBezTo>
                      <a:pt x="807645" y="572391"/>
                      <a:pt x="783991" y="582188"/>
                      <a:pt x="759327" y="582188"/>
                    </a:cubicBezTo>
                    <a:lnTo>
                      <a:pt x="92996" y="582188"/>
                    </a:lnTo>
                    <a:cubicBezTo>
                      <a:pt x="41636" y="582188"/>
                      <a:pt x="0" y="540553"/>
                      <a:pt x="0" y="489193"/>
                    </a:cubicBezTo>
                    <a:lnTo>
                      <a:pt x="0" y="92996"/>
                    </a:lnTo>
                    <a:cubicBezTo>
                      <a:pt x="0" y="41636"/>
                      <a:pt x="41636" y="0"/>
                      <a:pt x="92996" y="0"/>
                    </a:cubicBezTo>
                    <a:close/>
                  </a:path>
                </a:pathLst>
              </a:custGeom>
              <a:solidFill>
                <a:srgbClr val="FF6200"/>
              </a:solidFill>
            </p:spPr>
            <p:txBody>
              <a:bodyPr/>
              <a:p/>
            </p:txBody>
          </p:sp>
          <p:sp>
            <p:nvSpPr>
              <p:cNvPr name="TextBox 6" id="6"/>
              <p:cNvSpPr txBox="true"/>
              <p:nvPr/>
            </p:nvSpPr>
            <p:spPr>
              <a:xfrm>
                <a:off x="0" y="-28575"/>
                <a:ext cx="852323" cy="610763"/>
              </a:xfrm>
              <a:prstGeom prst="rect">
                <a:avLst/>
              </a:prstGeom>
            </p:spPr>
            <p:txBody>
              <a:bodyPr anchor="ctr" rtlCol="false" tIns="66648" lIns="66648" bIns="66648" rIns="6664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482948" y="157262"/>
              <a:ext cx="3199461" cy="1609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>
                <a:lnSpc>
                  <a:spcPts val="4753"/>
                </a:lnSpc>
                <a:buNone/>
              </a:pPr>
              <a:r>
                <a:rPr b="1" sz="3961">
                  <a:solidFill>
                    <a:srgbClr val="FFFFFF"/>
                  </a:solidFill>
                  <a:latin typeface="Inter Bold"/>
                </a:rPr>
                <a:t>adult mode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08265" cy="1945982"/>
            </a:xfrm>
            <a:custGeom>
              <a:avLst/>
              <a:gdLst/>
              <a:ahLst/>
              <a:cxnLst/>
              <a:rect r="r" b="b" t="t" l="l"/>
              <a:pathLst>
                <a:path h="1945982" w="1608265">
                  <a:moveTo>
                    <a:pt x="0" y="0"/>
                  </a:moveTo>
                  <a:lnTo>
                    <a:pt x="1608265" y="0"/>
                  </a:lnTo>
                  <a:lnTo>
                    <a:pt x="1608265" y="1945982"/>
                  </a:lnTo>
                  <a:lnTo>
                    <a:pt x="0" y="1945982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p/>
          </p:txBody>
        </p:sp>
      </p:grpSp>
      <p:sp>
        <p:nvSpPr>
          <p:cNvPr name="TextBox 9" id="9"/>
          <p:cNvSpPr txBox="true"/>
          <p:nvPr/>
        </p:nvSpPr>
        <p:spPr>
          <a:xfrm rot="0">
            <a:off x="5928043" y="4076430"/>
            <a:ext cx="11479917" cy="2038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463040" indent="-365760" lvl="1">
              <a:lnSpc>
                <a:spcPts val="5000"/>
              </a:lnSpc>
              <a:buChar char="•"/>
            </a:pPr>
            <a:r>
              <a:rPr b="1" sz="3600">
                <a:solidFill>
                  <a:srgbClr val="000000"/>
                </a:solidFill>
                <a:latin typeface="Inter Bold"/>
              </a:rPr>
              <a:t>scans 200+ news articles</a:t>
            </a:r>
          </a:p>
          <a:p>
            <a:pPr lvl="1" marL="1463040" indent="-365760" algn="l">
              <a:lnSpc>
                <a:spcPts val="5000"/>
              </a:lnSpc>
              <a:buChar char="•"/>
            </a:pPr>
            <a:r>
              <a:rPr b="1" sz="3600">
                <a:solidFill>
                  <a:srgbClr val="000000"/>
                </a:solidFill>
                <a:latin typeface="Inter Bold"/>
              </a:rPr>
              <a:t>data-driven recommendations</a:t>
            </a:r>
          </a:p>
          <a:p>
            <a:pPr lvl="1" marL="1463040" indent="-365760" algn="l">
              <a:lnSpc>
                <a:spcPts val="5000"/>
              </a:lnSpc>
              <a:buChar char="•"/>
            </a:pPr>
            <a:r>
              <a:rPr b="1" sz="3600">
                <a:solidFill>
                  <a:srgbClr val="FF6200"/>
                </a:solidFill>
                <a:latin typeface="Inter Bold"/>
              </a:rPr>
              <a:t>LIVE DEMO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36331" y="696248"/>
            <a:ext cx="12663341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lnSpc>
                <a:spcPts val="11999"/>
              </a:lnSpc>
              <a:buNone/>
            </a:pPr>
            <a:r>
              <a:rPr b="1" sz="9999">
                <a:solidFill>
                  <a:srgbClr val="FF6200"/>
                </a:solidFill>
                <a:latin typeface="Inter Bold"/>
              </a:rPr>
              <a:t>Investment Agent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73857" y="464782"/>
            <a:ext cx="3341541" cy="3341541"/>
            <a:chOff x="0" y="0"/>
            <a:chExt cx="4455389" cy="44553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55414" cy="4455414"/>
            </a:xfrm>
            <a:custGeom>
              <a:avLst/>
              <a:gdLst/>
              <a:ahLst/>
              <a:cxnLst/>
              <a:rect r="r" b="b" t="t" l="l"/>
              <a:pathLst>
                <a:path h="4455414" w="4455414">
                  <a:moveTo>
                    <a:pt x="0" y="0"/>
                  </a:moveTo>
                  <a:lnTo>
                    <a:pt x="4455414" y="0"/>
                  </a:lnTo>
                  <a:lnTo>
                    <a:pt x="4455414" y="4455414"/>
                  </a:lnTo>
                  <a:lnTo>
                    <a:pt x="0" y="4455414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1028700" y="214027"/>
            <a:ext cx="9601885" cy="193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lnSpc>
                <a:spcPts val="15960"/>
              </a:lnSpc>
              <a:buNone/>
            </a:pPr>
            <a:r>
              <a:rPr b="1" sz="11400">
                <a:solidFill>
                  <a:srgbClr val="000000"/>
                </a:solidFill>
                <a:latin typeface="Inter Bold"/>
              </a:rPr>
              <a:t>Legal &amp; Trust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0553" y="2142172"/>
            <a:ext cx="13703303" cy="221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lnSpc>
                <a:spcPts val="8958"/>
              </a:lnSpc>
              <a:buNone/>
            </a:pPr>
            <a:r>
              <a:rPr b="1" sz="6398">
                <a:solidFill>
                  <a:srgbClr val="000000"/>
                </a:solidFill>
                <a:latin typeface="Inter Bold"/>
              </a:rPr>
              <a:t>GDPR &amp; EU AI Act compliant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39010" y="5883545"/>
            <a:ext cx="8233153" cy="1400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lnSpc>
                <a:spcPts val="5952"/>
              </a:lnSpc>
              <a:buNone/>
            </a:pPr>
            <a:r>
              <a:rPr b="1" sz="4800">
                <a:solidFill>
                  <a:srgbClr val="000000"/>
                </a:solidFill>
                <a:latin typeface="Inter Bold"/>
              </a:rPr>
              <a:t>Leo suggests — you decide. Never executes without approval.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64292" y="3615823"/>
            <a:ext cx="4823708" cy="79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lnSpc>
                <a:spcPts val="5600"/>
              </a:lnSpc>
              <a:buNone/>
            </a:pPr>
            <a:r>
              <a:rPr b="1" sz="4000">
                <a:solidFill>
                  <a:srgbClr val="FF6200"/>
                </a:solidFill>
                <a:latin typeface="Inter Bold"/>
              </a:rPr>
              <a:t>Your data stays yours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1591" y="3238500"/>
            <a:ext cx="5575297" cy="7048500"/>
            <a:chOff x="0" y="0"/>
            <a:chExt cx="7433729" cy="9398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33691" cy="9398000"/>
            </a:xfrm>
            <a:custGeom>
              <a:avLst/>
              <a:gdLst/>
              <a:ahLst/>
              <a:cxnLst/>
              <a:rect r="r" b="b" t="t" l="l"/>
              <a:pathLst>
                <a:path h="9398000" w="7433691">
                  <a:moveTo>
                    <a:pt x="0" y="0"/>
                  </a:moveTo>
                  <a:lnTo>
                    <a:pt x="7433691" y="0"/>
                  </a:lnTo>
                  <a:lnTo>
                    <a:pt x="7433691" y="9398000"/>
                  </a:lnTo>
                  <a:lnTo>
                    <a:pt x="0" y="9398000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p/>
          </p:txBody>
        </p:sp>
      </p:grpSp>
    </p:spTree>
  </p:cSld>
  <p:clrMapOvr>
    <a:masterClrMapping/>
  </p:clrMapOvr>
  <p:transition spd="fast">
    <p:fade/>
  </p:transition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36519" y="2927257"/>
            <a:ext cx="14214962" cy="4699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209"/>
              </a:lnSpc>
              <a:buNone/>
            </a:pPr>
            <a:r>
              <a:rPr b="1" sz="17509">
                <a:solidFill>
                  <a:srgbClr val="000000"/>
                </a:solidFill>
                <a:latin typeface="Inter Bold"/>
              </a:rPr>
              <a:t>TECH DEEP DIVE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36519" y="7765254"/>
            <a:ext cx="14214962" cy="239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209"/>
              </a:lnSpc>
              <a:buNone/>
            </a:pPr>
            <a:r>
              <a:rPr b="1" sz="17509">
                <a:solidFill>
                  <a:srgbClr val="FF6200"/>
                </a:solidFill>
                <a:latin typeface="Inter Bold"/>
              </a:rPr>
              <a:t>VIBE CODING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7051" y="268311"/>
            <a:ext cx="6042453" cy="136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>
              <a:lnSpc>
                <a:spcPts val="11200"/>
              </a:lnSpc>
              <a:buNone/>
            </a:pPr>
            <a:r>
              <a:rPr sz="8000">
                <a:solidFill>
                  <a:srgbClr val="000000"/>
                </a:solidFill>
                <a:latin typeface="Inter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7051" y="1939688"/>
            <a:ext cx="17773898" cy="2323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0534" indent="-192633" lvl="1">
              <a:lnSpc>
                <a:spcPts val="2655"/>
              </a:lnSpc>
              <a:buChar char="•"/>
            </a:pPr>
            <a:r>
              <a:rPr sz="1896">
                <a:solidFill>
                  <a:srgbClr val="000000"/>
                </a:solidFill>
                <a:latin typeface="Inter Light"/>
              </a:rPr>
              <a:t>Bankenverband (2026): Jugendstudie 2024: Finanzbildung mit Defiziten | Bankenverband, Bankenverband, [online] https://bankenverband.de/finanzbildung/jugendstudie-2024-finanzbildung-mit-defiziten.</a:t>
            </a:r>
          </a:p>
          <a:p>
            <a:pPr lvl="1" marL="770534" indent="-192633" algn="l">
              <a:lnSpc>
                <a:spcPts val="2655"/>
              </a:lnSpc>
              <a:buChar char="•"/>
            </a:pPr>
            <a:r>
              <a:rPr sz="1896">
                <a:solidFill>
                  <a:srgbClr val="000000"/>
                </a:solidFill>
                <a:latin typeface="Inter Light"/>
              </a:rPr>
              <a:t>Klinger, Helena/Sally Peters (2023): Finfluencer und Verbraucherschutz, Institut Für Finanzdienstleistungen e.V. (Iff), [online] https://www.iff-hamburg.de/wp-content/uploads/2023/11/Ueberschuldungsradar36_Finfluencer_Verbraucherschutz.pdf.</a:t>
            </a:r>
          </a:p>
          <a:p>
            <a:pPr lvl="1" marL="770534" indent="-192633" algn="l">
              <a:lnSpc>
                <a:spcPts val="2655"/>
              </a:lnSpc>
              <a:buChar char="•"/>
            </a:pPr>
            <a:r>
              <a:rPr sz="1896">
                <a:solidFill>
                  <a:srgbClr val="000000"/>
                </a:solidFill>
                <a:latin typeface="Inter Light"/>
              </a:rPr>
              <a:t>Zimmermann, Simon Schnetzer Prof. Dr. Nina Kolleck/ Dr. Kilian Hampel/ Matthias (2025): Zwischen Enttäuschung und Zuversicht – Trendstudie „Jugend in Deutschland 2025“, [online] https://www.uni-potsdam.de/de/nachrichten/detail/2025-05-20-zwischen-enttaeuschung-und-zuversicht-trendstudie-jugend-in-deutschland-2025.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DAHEws7Ltho</dc:identifier>
  <dcterms:modified xsi:type="dcterms:W3CDTF">2011-08-01T06:04:30Z</dcterms:modified>
  <cp:revision>1</cp:revision>
  <dc:title>Copy of ING LEO Frankfurt</dc:title>
</cp:coreProperties>
</file>